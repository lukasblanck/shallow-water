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8" r:id="rId2"/>
  </p:sldMasterIdLst>
  <p:notesMasterIdLst>
    <p:notesMasterId r:id="rId26"/>
  </p:notesMasterIdLst>
  <p:handoutMasterIdLst>
    <p:handoutMasterId r:id="rId27"/>
  </p:handoutMasterIdLst>
  <p:sldIdLst>
    <p:sldId id="256" r:id="rId3"/>
    <p:sldId id="308" r:id="rId4"/>
    <p:sldId id="320" r:id="rId5"/>
    <p:sldId id="321" r:id="rId6"/>
    <p:sldId id="315" r:id="rId7"/>
    <p:sldId id="324" r:id="rId8"/>
    <p:sldId id="327" r:id="rId9"/>
    <p:sldId id="325" r:id="rId10"/>
    <p:sldId id="335" r:id="rId11"/>
    <p:sldId id="319" r:id="rId12"/>
    <p:sldId id="328" r:id="rId13"/>
    <p:sldId id="336" r:id="rId14"/>
    <p:sldId id="337" r:id="rId15"/>
    <p:sldId id="318" r:id="rId16"/>
    <p:sldId id="329" r:id="rId17"/>
    <p:sldId id="330" r:id="rId18"/>
    <p:sldId id="331" r:id="rId19"/>
    <p:sldId id="332" r:id="rId20"/>
    <p:sldId id="333" r:id="rId21"/>
    <p:sldId id="338" r:id="rId22"/>
    <p:sldId id="334" r:id="rId23"/>
    <p:sldId id="339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EB8B2D"/>
    <a:srgbClr val="000F24"/>
    <a:srgbClr val="FED8D8"/>
    <a:srgbClr val="343433"/>
    <a:srgbClr val="00294C"/>
    <a:srgbClr val="4C4D4C"/>
    <a:srgbClr val="636462"/>
    <a:srgbClr val="777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90B039-B811-C1BA-DE3F-29B08E8CC514}" v="88" dt="2026-01-28T19:48:39.403"/>
    <p1510:client id="{C66930CA-306A-4D3A-BDB0-0A5277EF6065}" v="2341" dt="2026-01-29T02:40:42.640"/>
    <p1510:client id="{FBDC9D4F-1472-4993-A252-4EEF009BFC46}" v="5028" dt="2026-01-29T02:40:26.935"/>
    <p1510:client id="{FD6E3B39-AF05-4009-1023-A7269FDDD3B1}" v="151" dt="2026-01-28T19:43:07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8"/>
    <p:restoredTop sz="96301"/>
  </p:normalViewPr>
  <p:slideViewPr>
    <p:cSldViewPr snapToGrid="0">
      <p:cViewPr varScale="1">
        <p:scale>
          <a:sx n="114" d="100"/>
          <a:sy n="114" d="100"/>
        </p:scale>
        <p:origin x="20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F9A7093-B570-B193-D7A9-C5C63DBA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BD1486-6470-ADF8-DE88-7EFF4FFC6F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FBCA-7827-204B-8916-3BD441F72BB8}" type="datetimeFigureOut">
              <a:rPr lang="de-DE" smtClean="0"/>
              <a:t>12.05.26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AD9848-4544-6C88-D485-3E2FFA25B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4C57B-ECE4-849C-BD69-0C6CD30F61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2C0D7-0313-8748-AFD1-FE9CFDB25C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87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E5A1-857B-214D-8BEE-AF65CEFCD544}" type="datetimeFigureOut">
              <a:rPr lang="de-DE" smtClean="0"/>
              <a:t>12.05.26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31BCB-E4CC-CD41-BF0E-941D9510A3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5B0EE-9DD1-B6A4-8A32-4C5AF2B39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E5943D-32D0-6D2B-EFCB-D2BF26DEFB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8532622-CDAB-4580-FF15-1699C8315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293B77-F14B-D111-ED04-020325E2E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429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594FD-132E-ACFA-EBF0-7B0D9F22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304F0DF-76F8-2329-6A8E-2600B82AB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A5BD3D-AAA3-5BB3-0254-81995ABDE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27894E-E26D-BF82-6FC1-C77AB9714B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708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52A59-778F-11F8-E48E-1E3E032BA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B735556-5B8F-3797-3328-827E6C6F2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D17450F-D8EC-86C7-07D3-A6988C5A1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6D5A74-9069-4424-5407-662DD8031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190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0212-FF44-9C5E-8DB9-7FFAFB4D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7EA58A-E56D-0E89-284A-BFD4055C62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130679-865A-374B-29AE-E5C704051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DD9F7F-B23E-ED4D-7D2D-1CD6A853F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7799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62D6-7347-6310-3D8B-C537D67E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A311F6-B69A-CDA2-6708-2D15F6874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E4CE76A-0EE0-ECE4-4B86-2A3561EEF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Continuity: Incompressible -&gt; local fluid volum is preserved!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D0D5CD-4D2E-7C92-2281-04304400BC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1530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FCC1-31C3-4258-18A2-072F4969A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ADF9F28-85B7-D528-AAD6-B026FF59A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FB5DA49-00F7-9BF6-FF24-C9788FFE7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BC2172-EACC-20E7-087E-0CFFB1038D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4656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E933D-6377-EAA0-7CE5-276E7310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DB8864D-D220-9921-C6AF-BD32B6993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6998047-6376-1A33-BACE-C7BBE45F9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099B2D-71A1-AD31-E6A6-B12DCA230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390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0B9A3-79AB-9339-3A83-AB22C889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7FFEA8C-6CB7-24AA-F276-B4238BF86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228C5E7-6EF1-52B5-7D20-3F375004E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0EE7CB-768A-214F-FB14-CB59F236A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104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B170E-3D7F-F79A-15E5-E135D52CA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8B66AA8-4D06-F07A-7137-7EDBD0A66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B61C66F-C5E8-0E08-951E-3875F43C6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E32665-8AB1-26DF-C4E6-F356A5D5B9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69461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CE10-FBE3-C4C7-AA5F-A6B03A6EC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FFC70DF-F22D-7860-289E-AD56CC3CB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1174C0-8A06-1B31-326D-8B952DA917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693D5E-7A74-8705-B9A4-D1BB2E536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2129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EB0F8-2CE6-E941-574D-8B5601A7A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7508DE8-255F-6C52-6EED-49A16AA48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46E3CBE-DCFA-F47A-AF4F-418F3ED46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C179A0-FCB7-FE0C-ED0A-F83CB04FA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2270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3D760-6E54-3AD8-E904-E35C66F7C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D28825-19BA-B8A6-04B1-31F00524D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3AC2C3-C4A5-9E0C-D73E-1394C1FB6B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68A8E8-6D3D-164E-E6C4-AEE84D5BE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4819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504AC-C82C-2527-DE25-CE8015BCF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2506818-4879-ED24-5D47-874BFDA58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36479B2-1CC5-EFA1-4BBF-38E61F08C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D5E6A2-B1E2-5DF1-5FCB-8EEFABBB7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4742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B5137-B0EC-977D-86C8-2C0578C3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EDE82A-0DC9-8FA7-31B2-E8EFBB882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33C2F77-ADC5-3F11-4F94-AEBF88655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E8EAB8-24E4-703C-E15F-50F569CAA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334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F4ADC-DA63-BB8A-630A-EA0E7532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FD088D8-BE5C-E2A2-91AF-C9D3E58F2C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8157DF-74F9-4EF8-26AB-3FB3B9722A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389A246-DDE4-7052-45D2-A95A49997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15272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AB16-0514-65E9-12D5-2F8EF3A81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9CDF580-7EBA-169F-567B-0739429A3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C8FCC9F-149F-8786-7E08-AF3ABD108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5AD272-EA4E-550B-9BBF-248A6EA17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3791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EBC18-1100-EF68-88F0-C127F9E96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0403DDE-D7C1-2673-FEE0-6FD5090C6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B2740F9-3BF4-223F-47EB-BDDCA3B25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60DFDD-02E7-0F0D-07BE-A707F006A6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8685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A9C2F-BFC7-65BE-49A0-D52695FF4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2B5B8CA-9F23-72B2-023F-5469B77B0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7E40E63-DBD0-EAC9-BDA3-A13217DA83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F14518-38CC-45B5-B8FE-8814EF088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8218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E8425-5A3B-BF6D-2BB2-27BC8814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FDADEDB-1F25-E1F8-1720-A3C43F6AC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8F78C39-BAE9-8C0A-236C-9887EA82E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137A2D-B613-B64C-8FBF-E936C3D3B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2520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E1AD-3DE8-8661-03D9-F3966395C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A7EA49F-A405-2990-DB0F-26EAF9813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8FFE97E-A2C8-9D30-69E0-07F371ACB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49BFDC-BE9D-5899-5409-6ED223F60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284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6A63A-43E5-10C3-F72B-CE65926F7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280B5CB-8D08-58D1-2212-2A067284E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9A9748D-9770-EAD9-CF59-B6EB283B1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D8806A-DB54-D852-D969-B6601F48D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531BCB-E4CC-CD41-BF0E-941D9510A3DE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5162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544CBE7-AFBB-1961-3EFC-905CC26E25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23705"/>
          <a:stretch/>
        </p:blipFill>
        <p:spPr>
          <a:xfrm>
            <a:off x="0" y="0"/>
            <a:ext cx="12240683" cy="525320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5533147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77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FB9842-8DFB-C8D2-DAF3-F9AEA1236D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1786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23FF5FB-C0BC-8FBF-E010-82C75F8599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4A5A38D-E190-82AE-46C3-265489251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3" y="2624296"/>
            <a:ext cx="10561669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Textplatzhalter 12">
            <a:extLst>
              <a:ext uri="{FF2B5EF4-FFF2-40B4-BE49-F238E27FC236}">
                <a16:creationId xmlns:a16="http://schemas.microsoft.com/office/drawing/2014/main" id="{857560AF-62DA-685C-05D3-86EBDEF3A4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5423" y="5407457"/>
            <a:ext cx="10561669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rgbClr val="34343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12439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FC01E-4815-58CB-245F-C6264A32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130142"/>
            <a:ext cx="10858029" cy="4746783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F467342-6F17-B273-AB31-7550A6A2E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408" y="332656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60C85B2-D425-5CFB-4251-19ED243B1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8966" y="63575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E0B9212-D1C1-ADB0-2A92-B1D1B2B01F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8836" y="63552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97E50-EC1F-01A0-B1F3-70989E79E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1980" y="63575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50AB66EA-4252-A34F-8970-2F6144F95B8E}" type="datetime1">
              <a:t>12.05.26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4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125538"/>
            <a:ext cx="5273191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F25E90-E439-A938-CC55-2C9384E72B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82000" y="1125538"/>
            <a:ext cx="5400748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4869B38-494B-4C89-A74E-D20229C10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2902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064C877-38F5-B23B-AB59-8521CEDEF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45A9A-4549-7291-C45E-B517A0EB5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BEA872-6F0E-93AD-97E6-4944DF48F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139D784D-5D9F-524A-9D3C-793471E294D2}" type="datetime1">
              <a:t>12.05.26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7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970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en-US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3EBBEB-ABBC-395C-14A7-2F7F0FAE60BA}"/>
              </a:ext>
            </a:extLst>
          </p:cNvPr>
          <p:cNvSpPr txBox="1"/>
          <p:nvPr userDrawn="1"/>
        </p:nvSpPr>
        <p:spPr>
          <a:xfrm>
            <a:off x="888646" y="1126927"/>
            <a:ext cx="5083656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89F5-31B5-F924-6649-EBD229A11FB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40174" y="1797050"/>
            <a:ext cx="5201331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0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endParaRPr lang="en-US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CADC7D-CFAE-D0EC-0BBB-45D49E9E25BF}"/>
              </a:ext>
            </a:extLst>
          </p:cNvPr>
          <p:cNvSpPr txBox="1"/>
          <p:nvPr userDrawn="1"/>
        </p:nvSpPr>
        <p:spPr>
          <a:xfrm>
            <a:off x="6140173" y="1127050"/>
            <a:ext cx="5201331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FBFCFE1-A281-A2FB-6E30-43BF24D33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184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06CE9B-759F-824A-C20A-5E10A93E4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CBACC-8192-9FCA-5352-7C6863BD1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CE8F90-C45D-8937-D1DB-0139A002D5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D6A4D6E8-04E4-FD44-9C37-7D4F8F481D24}" type="datetime1">
              <a:t>12.05.26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44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6321" y="1117234"/>
            <a:ext cx="6080753" cy="4756918"/>
          </a:xfrm>
        </p:spPr>
        <p:txBody>
          <a:bodyPr/>
          <a:lstStyle>
            <a:lvl1pPr marL="228594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733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0663" y="1120007"/>
            <a:ext cx="4538645" cy="4756918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10A2F76-5FE6-A2C9-8158-0253A4B2F1C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6763" y="602259"/>
            <a:ext cx="10878519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2667" dirty="0">
                <a:solidFill>
                  <a:schemeClr val="accent1"/>
                </a:solidFill>
              </a:defRPr>
            </a:lvl1pPr>
          </a:lstStyle>
          <a:p>
            <a:pPr lvl="0"/>
            <a:br>
              <a:rPr lang="de-DE"/>
            </a:br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5945F4-3FF9-3EFE-16B6-5F5982EA3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58957" y="6367937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C5FAE91-7171-D00B-D5B3-F231E3F8D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78827" y="6365678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3719207-9E67-A5A0-0AFB-800C561F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41971" y="6367937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49BFD160-2B84-A642-85D1-5DB904E0C295}" type="datetime1">
              <a:t>12.05.26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97428" y="1125538"/>
            <a:ext cx="6135295" cy="4751387"/>
          </a:xfrm>
        </p:spPr>
        <p:txBody>
          <a:bodyPr anchor="t"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6A265-800A-43D6-2F98-C10611F5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3" y="1125538"/>
            <a:ext cx="4538645" cy="4751387"/>
          </a:xfrm>
        </p:spPr>
        <p:txBody>
          <a:bodyPr>
            <a:normAutofit/>
          </a:bodyPr>
          <a:lstStyle>
            <a:lvl1pPr marL="0" indent="0">
              <a:buNone/>
              <a:defRPr sz="1733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54FDCCD-A5AF-88A5-9D20-108CCA7A4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19F5C56-FD7E-D515-80C0-7891D6A12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6BA88-315C-2F5A-C8CA-1B8CAE5AF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1B1380-8210-48A8-BB43-B42AD035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DFC56F55-7DF9-0449-AD31-611DE45B2140}" type="datetime1">
              <a:t>12.05.26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+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CD230031-93FC-50BC-76F9-90A026F087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1126928"/>
            <a:ext cx="10865960" cy="480053"/>
          </a:xfrm>
        </p:spPr>
        <p:txBody>
          <a:bodyPr>
            <a:normAutofit/>
          </a:bodyPr>
          <a:lstStyle>
            <a:lvl1pPr marL="0" indent="0" algn="l">
              <a:buNone/>
              <a:defRPr sz="1733">
                <a:solidFill>
                  <a:srgbClr val="4C4D4C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17648C-2661-BBE0-ED31-F8BFFFC21DA4}"/>
              </a:ext>
            </a:extLst>
          </p:cNvPr>
          <p:cNvSpPr txBox="1">
            <a:spLocks/>
          </p:cNvSpPr>
          <p:nvPr userDrawn="1"/>
        </p:nvSpPr>
        <p:spPr>
          <a:xfrm>
            <a:off x="959280" y="1797050"/>
            <a:ext cx="10865960" cy="105611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i="1">
                <a:solidFill>
                  <a:srgbClr val="4C4D4C"/>
                </a:solidFill>
                <a:latin typeface="+mn-lt"/>
              </a:rPr>
              <a:t>Zitat bearbeiten</a:t>
            </a:r>
            <a:endParaRPr lang="en-US" sz="2000" i="1">
              <a:solidFill>
                <a:srgbClr val="4C4D4C"/>
              </a:solidFill>
              <a:latin typeface="+mn-lt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F1926AB-352B-1D01-2E4A-B42350233D4A}"/>
              </a:ext>
            </a:extLst>
          </p:cNvPr>
          <p:cNvSpPr txBox="1">
            <a:spLocks/>
          </p:cNvSpPr>
          <p:nvPr userDrawn="1"/>
        </p:nvSpPr>
        <p:spPr>
          <a:xfrm>
            <a:off x="766763" y="2949177"/>
            <a:ext cx="10849700" cy="2927747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3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733">
                <a:solidFill>
                  <a:srgbClr val="4C4D4C"/>
                </a:solidFill>
              </a:rPr>
              <a:t>Mastertitelformat bearbeiten</a:t>
            </a:r>
            <a:endParaRPr lang="en-US" sz="1733">
              <a:solidFill>
                <a:srgbClr val="4C4D4C"/>
              </a:solidFill>
            </a:endParaRPr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6364703-4655-3A8A-7A24-521B94AB028D}"/>
              </a:ext>
            </a:extLst>
          </p:cNvPr>
          <p:cNvCxnSpPr/>
          <p:nvPr userDrawn="1"/>
        </p:nvCxnSpPr>
        <p:spPr>
          <a:xfrm>
            <a:off x="863269" y="1797050"/>
            <a:ext cx="0" cy="960107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D4537A4E-7ECF-DAE3-1691-53F73276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763" y="333375"/>
            <a:ext cx="10865960" cy="47783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2667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9014802-BFAB-F5A2-B75F-9FB942E2C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2404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AB30F97-4BE0-5CC1-D8E4-6176CBD1F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0145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1B5A1-CC77-7628-2F4B-D2EF0A0DF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70083" y="6352404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07E6D906-5535-F748-B5B9-3FBB2E8A3576}" type="datetime1">
              <a:t>12.05.26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6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E1D3F9E-CCAE-4466-A283-C2A9F0F342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7069" y="6354663"/>
            <a:ext cx="4114800" cy="314425"/>
          </a:xfrm>
          <a:prstGeom prst="rect">
            <a:avLst/>
          </a:prstGeom>
        </p:spPr>
        <p:txBody>
          <a:bodyPr anchor="ctr" anchorCtr="1"/>
          <a:lstStyle>
            <a:lvl1pPr algn="ctr">
              <a:defRPr sz="933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sv-SE"/>
              <a:t>Lukas Blanck</a:t>
            </a:r>
            <a:endParaRPr lang="de-DE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CBFD8B5-A5D3-47AF-94BC-02440AFB06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6939" y="6352404"/>
            <a:ext cx="888247" cy="316684"/>
          </a:xfrm>
          <a:prstGeom prst="rect">
            <a:avLst/>
          </a:prstGeom>
        </p:spPr>
        <p:txBody>
          <a:bodyPr anchor="ctr" anchorCtr="1"/>
          <a:lstStyle>
            <a:lvl1pPr algn="r">
              <a:defRPr sz="933">
                <a:solidFill>
                  <a:schemeClr val="accent3"/>
                </a:solidFill>
              </a:defRPr>
            </a:lvl1pPr>
          </a:lstStyle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F82951B-5DE8-4179-9CDF-0C507218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0083" y="6354663"/>
            <a:ext cx="1311917" cy="3166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33">
                <a:solidFill>
                  <a:schemeClr val="accent3"/>
                </a:solidFill>
              </a:defRPr>
            </a:lvl1pPr>
          </a:lstStyle>
          <a:p>
            <a:fld id="{D695CA93-790F-8C4B-9A2C-2596004F62EC}" type="datetime1">
              <a:t>12.05.26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5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Social Media+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090AD0-FD2A-CA7D-BBD5-5B2FCD0D8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24068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B8C760-DE03-494A-86E3-7BEF8EE85842}" type="datetime1">
              <a:t>12.05.26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sv-SE"/>
              <a:t>Lukas Blanck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Seite </a:t>
            </a:r>
            <a:fld id="{EBA229B5-7CFD-BC45-B1DD-7E8FA6FF2A01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8396C8-6250-4EB9-A9AF-4941536C768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0" y="0"/>
            <a:ext cx="12250813" cy="689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0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06" r:id="rId4"/>
    <p:sldLayoutId id="2147483708" r:id="rId5"/>
    <p:sldLayoutId id="2147483721" r:id="rId6"/>
    <p:sldLayoutId id="2147483712" r:id="rId7"/>
    <p:sldLayoutId id="2147483713" r:id="rId8"/>
    <p:sldLayoutId id="2147483714" r:id="rId9"/>
    <p:sldLayoutId id="2147483735" r:id="rId10"/>
    <p:sldLayoutId id="2147483720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48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11" Type="http://schemas.openxmlformats.org/officeDocument/2006/relationships/image" Target="../media/image16.jpeg"/><Relationship Id="rId5" Type="http://schemas.openxmlformats.org/officeDocument/2006/relationships/image" Target="../media/image11.png"/><Relationship Id="rId10" Type="http://schemas.openxmlformats.org/officeDocument/2006/relationships/image" Target="../media/image15.jpeg"/><Relationship Id="rId4" Type="http://schemas.openxmlformats.org/officeDocument/2006/relationships/image" Target="../media/image13.jpeg"/><Relationship Id="rId9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jpeg"/><Relationship Id="rId11" Type="http://schemas.openxmlformats.org/officeDocument/2006/relationships/image" Target="../media/image39.png"/><Relationship Id="rId5" Type="http://schemas.openxmlformats.org/officeDocument/2006/relationships/image" Target="../media/image24.jpeg"/><Relationship Id="rId10" Type="http://schemas.openxmlformats.org/officeDocument/2006/relationships/image" Target="../media/image38.png"/><Relationship Id="rId4" Type="http://schemas.openxmlformats.org/officeDocument/2006/relationships/image" Target="../media/image8.jpe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44.pn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5.png"/><Relationship Id="rId4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B3EEE1C5-F540-4CDC-92A0-10DF1616D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/>
              <a:t>Shallow Water Equations: Progress report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F67C4111-E4F0-479F-80F6-8BB16BD1CB1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68289" y="6100622"/>
            <a:ext cx="10560049" cy="5866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500" noProof="0">
                <a:solidFill>
                  <a:srgbClr val="4C4D4C"/>
                </a:solidFill>
              </a:rPr>
              <a:t>AG: HPC										Lukas Blanck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2020C8E-D6C1-0DB1-CBA5-7EC3660E52C8}"/>
              </a:ext>
            </a:extLst>
          </p:cNvPr>
          <p:cNvSpPr txBox="1"/>
          <p:nvPr/>
        </p:nvSpPr>
        <p:spPr>
          <a:xfrm>
            <a:off x="6084553" y="-11447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sz="32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F3EE29-4E60-5F3D-8376-0AA0746F6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339" y="1674054"/>
            <a:ext cx="12332677" cy="378760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5AC7507-0F91-B5DF-8E61-7F151204C95F}"/>
              </a:ext>
            </a:extLst>
          </p:cNvPr>
          <p:cNvSpPr txBox="1"/>
          <p:nvPr/>
        </p:nvSpPr>
        <p:spPr>
          <a:xfrm>
            <a:off x="9669517" y="6649950"/>
            <a:ext cx="271166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>
                <a:solidFill>
                  <a:schemeClr val="bg1">
                    <a:lumMod val="75000"/>
                  </a:schemeClr>
                </a:solidFill>
              </a:rPr>
              <a:t>https://www.freevector.com/water-ripples-vector</a:t>
            </a:r>
          </a:p>
        </p:txBody>
      </p:sp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5D01-D3BC-4206-6A5E-4AB9BEFA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F885EFBE-8ED5-CE72-6478-03FB710B00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Mass conservation:</a:t>
                </a:r>
              </a:p>
              <a:p>
                <a:pPr marL="0" indent="0">
                  <a:buNone/>
                </a:pPr>
                <a:r>
                  <a:rPr lang="de-AT" b="1" i="1"/>
                  <a:t>		                 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Momentum conservation:		 </a:t>
                </a:r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h𝑢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r>
                  <a:rPr lang="de-AT" b="1" i="1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de-AT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h𝑣</m:t>
                    </m:r>
                    <m:r>
                      <a:rPr lang="de-AT" i="1">
                        <a:latin typeface="Cambria Math" panose="02040503050406030204" pitchFamily="18" charset="0"/>
                      </a:rPr>
                      <m:t>)+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de-AT" i="1">
                            <a:latin typeface="Cambria Math" panose="02040503050406030204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de-AT" i="1">
                            <a:latin typeface="Cambria Math" panose="02040503050406030204" pitchFamily="18" charset="0"/>
                          </a:rPr>
                          <m:t>𝑔</m:t>
                        </m:r>
                        <m:sSup>
                          <m:sSupPr>
                            <m:ctrlPr>
                              <a:rPr lang="de-A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de-AT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de-AT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de-A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i="1">
                            <a:latin typeface="Cambria Math" panose="02040503050406030204" pitchFamily="18" charset="0"/>
                          </a:rPr>
                          <m:t>h𝑢𝑣</m:t>
                        </m:r>
                      </m:e>
                    </m:d>
                    <m:r>
                      <a:rPr lang="de-AT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F885EFBE-8ED5-CE72-6478-03FB710B00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50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B706364D-3329-C24A-0369-0EAB48DC3B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Shallow Water Equations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8E7D63-06B8-DC63-3B91-085AA38DE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086B5D1-3359-ED20-5FC1-09C635AB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CEFCED-C0F5-76F7-0B4C-9CF9DFEF1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2</a:t>
            </a:fld>
            <a:endParaRPr lang="de-DE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68FB054-DD1B-0B86-E080-EA1CCBD569E2}"/>
              </a:ext>
            </a:extLst>
          </p:cNvPr>
          <p:cNvCxnSpPr>
            <a:cxnSpLocks/>
          </p:cNvCxnSpPr>
          <p:nvPr/>
        </p:nvCxnSpPr>
        <p:spPr>
          <a:xfrm>
            <a:off x="1020500" y="5612244"/>
            <a:ext cx="4498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F9334E11-F8BE-F540-32F1-F27D3F9C0383}"/>
              </a:ext>
            </a:extLst>
          </p:cNvPr>
          <p:cNvCxnSpPr>
            <a:cxnSpLocks/>
          </p:cNvCxnSpPr>
          <p:nvPr/>
        </p:nvCxnSpPr>
        <p:spPr>
          <a:xfrm flipV="1">
            <a:off x="1020500" y="3941099"/>
            <a:ext cx="0" cy="167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1319D1-2F69-2799-2F5B-5CE51FE4A043}"/>
                  </a:ext>
                </a:extLst>
              </p:cNvPr>
              <p:cNvSpPr txBox="1"/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371319D1-2F69-2799-2F5B-5CE51FE4A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728" y="5612244"/>
                <a:ext cx="181075" cy="276999"/>
              </a:xfrm>
              <a:prstGeom prst="rect">
                <a:avLst/>
              </a:prstGeom>
              <a:blipFill>
                <a:blip r:embed="rId5"/>
                <a:stretch>
                  <a:fillRect l="-13333" r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92B5C43-1CBA-2D81-C2A1-5FEB3A5F6FEB}"/>
                  </a:ext>
                </a:extLst>
              </p:cNvPr>
              <p:cNvSpPr txBox="1"/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392B5C43-1CBA-2D81-C2A1-5FEB3A5F6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146" y="4753568"/>
                <a:ext cx="227948" cy="276999"/>
              </a:xfrm>
              <a:prstGeom prst="rect">
                <a:avLst/>
              </a:prstGeom>
              <a:blipFill>
                <a:blip r:embed="rId6"/>
                <a:stretch>
                  <a:fillRect l="-16667" r="-16667"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7344CA7-9A79-23AD-5900-AC5E1CF5A7AA}"/>
              </a:ext>
            </a:extLst>
          </p:cNvPr>
          <p:cNvCxnSpPr>
            <a:cxnSpLocks/>
          </p:cNvCxnSpPr>
          <p:nvPr/>
        </p:nvCxnSpPr>
        <p:spPr>
          <a:xfrm>
            <a:off x="2648608" y="4382315"/>
            <a:ext cx="0" cy="101950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Freihandform 12">
            <a:extLst>
              <a:ext uri="{FF2B5EF4-FFF2-40B4-BE49-F238E27FC236}">
                <a16:creationId xmlns:a16="http://schemas.microsoft.com/office/drawing/2014/main" id="{A16C64A0-5D00-49FC-24E5-237241E3E7D6}"/>
              </a:ext>
            </a:extLst>
          </p:cNvPr>
          <p:cNvSpPr/>
          <p:nvPr/>
        </p:nvSpPr>
        <p:spPr>
          <a:xfrm>
            <a:off x="1030015" y="4245077"/>
            <a:ext cx="4225159" cy="358557"/>
          </a:xfrm>
          <a:custGeom>
            <a:avLst/>
            <a:gdLst>
              <a:gd name="csX0" fmla="*/ 0 w 4225159"/>
              <a:gd name="csY0" fmla="*/ 337153 h 358557"/>
              <a:gd name="csX1" fmla="*/ 430924 w 4225159"/>
              <a:gd name="csY1" fmla="*/ 274091 h 358557"/>
              <a:gd name="csX2" fmla="*/ 893379 w 4225159"/>
              <a:gd name="csY2" fmla="*/ 822 h 358557"/>
              <a:gd name="csX3" fmla="*/ 1408386 w 4225159"/>
              <a:gd name="csY3" fmla="*/ 221539 h 358557"/>
              <a:gd name="csX4" fmla="*/ 1891862 w 4225159"/>
              <a:gd name="csY4" fmla="*/ 11332 h 358557"/>
              <a:gd name="csX5" fmla="*/ 2385848 w 4225159"/>
              <a:gd name="csY5" fmla="*/ 253070 h 358557"/>
              <a:gd name="csX6" fmla="*/ 2900855 w 4225159"/>
              <a:gd name="csY6" fmla="*/ 822 h 358557"/>
              <a:gd name="csX7" fmla="*/ 3331779 w 4225159"/>
              <a:gd name="csY7" fmla="*/ 358174 h 358557"/>
              <a:gd name="csX8" fmla="*/ 3731173 w 4225159"/>
              <a:gd name="csY8" fmla="*/ 74394 h 358557"/>
              <a:gd name="csX9" fmla="*/ 4225159 w 4225159"/>
              <a:gd name="csY9" fmla="*/ 295112 h 35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5159" h="358557">
                <a:moveTo>
                  <a:pt x="0" y="337153"/>
                </a:moveTo>
                <a:cubicBezTo>
                  <a:pt x="141014" y="333649"/>
                  <a:pt x="282028" y="330146"/>
                  <a:pt x="430924" y="274091"/>
                </a:cubicBezTo>
                <a:cubicBezTo>
                  <a:pt x="579821" y="218036"/>
                  <a:pt x="730469" y="9581"/>
                  <a:pt x="893379" y="822"/>
                </a:cubicBezTo>
                <a:cubicBezTo>
                  <a:pt x="1056289" y="-7937"/>
                  <a:pt x="1241972" y="219787"/>
                  <a:pt x="1408386" y="221539"/>
                </a:cubicBezTo>
                <a:cubicBezTo>
                  <a:pt x="1574800" y="223291"/>
                  <a:pt x="1728952" y="6077"/>
                  <a:pt x="1891862" y="11332"/>
                </a:cubicBezTo>
                <a:cubicBezTo>
                  <a:pt x="2054772" y="16587"/>
                  <a:pt x="2217683" y="254822"/>
                  <a:pt x="2385848" y="253070"/>
                </a:cubicBezTo>
                <a:cubicBezTo>
                  <a:pt x="2554013" y="251318"/>
                  <a:pt x="2743200" y="-16695"/>
                  <a:pt x="2900855" y="822"/>
                </a:cubicBezTo>
                <a:cubicBezTo>
                  <a:pt x="3058510" y="18339"/>
                  <a:pt x="3193393" y="345912"/>
                  <a:pt x="3331779" y="358174"/>
                </a:cubicBezTo>
                <a:cubicBezTo>
                  <a:pt x="3470165" y="370436"/>
                  <a:pt x="3582276" y="84904"/>
                  <a:pt x="3731173" y="74394"/>
                </a:cubicBezTo>
                <a:cubicBezTo>
                  <a:pt x="3880070" y="63884"/>
                  <a:pt x="4052614" y="179498"/>
                  <a:pt x="4225159" y="295112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0A862429-8E29-7CEC-0015-CC0D3486EE82}"/>
              </a:ext>
            </a:extLst>
          </p:cNvPr>
          <p:cNvSpPr/>
          <p:nvPr/>
        </p:nvSpPr>
        <p:spPr>
          <a:xfrm>
            <a:off x="1797269" y="5254340"/>
            <a:ext cx="3436883" cy="368694"/>
          </a:xfrm>
          <a:custGeom>
            <a:avLst/>
            <a:gdLst>
              <a:gd name="csX0" fmla="*/ 0 w 3436883"/>
              <a:gd name="csY0" fmla="*/ 347674 h 368694"/>
              <a:gd name="csX1" fmla="*/ 483476 w 3436883"/>
              <a:gd name="csY1" fmla="*/ 316143 h 368694"/>
              <a:gd name="csX2" fmla="*/ 872359 w 3436883"/>
              <a:gd name="csY2" fmla="*/ 116446 h 368694"/>
              <a:gd name="csX3" fmla="*/ 1303283 w 3436883"/>
              <a:gd name="csY3" fmla="*/ 832 h 368694"/>
              <a:gd name="csX4" fmla="*/ 1713186 w 3436883"/>
              <a:gd name="csY4" fmla="*/ 63894 h 368694"/>
              <a:gd name="csX5" fmla="*/ 2049517 w 3436883"/>
              <a:gd name="csY5" fmla="*/ 53384 h 368694"/>
              <a:gd name="csX6" fmla="*/ 2259724 w 3436883"/>
              <a:gd name="csY6" fmla="*/ 11343 h 368694"/>
              <a:gd name="csX7" fmla="*/ 2564524 w 3436883"/>
              <a:gd name="csY7" fmla="*/ 116446 h 368694"/>
              <a:gd name="csX8" fmla="*/ 2816772 w 3436883"/>
              <a:gd name="csY8" fmla="*/ 221550 h 368694"/>
              <a:gd name="csX9" fmla="*/ 3153103 w 3436883"/>
              <a:gd name="csY9" fmla="*/ 316143 h 368694"/>
              <a:gd name="csX10" fmla="*/ 3436883 w 3436883"/>
              <a:gd name="csY10" fmla="*/ 368694 h 368694"/>
              <a:gd name="csX11" fmla="*/ 3436883 w 3436883"/>
              <a:gd name="csY11" fmla="*/ 368694 h 368694"/>
              <a:gd name="csX12" fmla="*/ 3436883 w 3436883"/>
              <a:gd name="csY12" fmla="*/ 368694 h 368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36883" h="368694">
                <a:moveTo>
                  <a:pt x="0" y="347674"/>
                </a:moveTo>
                <a:cubicBezTo>
                  <a:pt x="169041" y="351177"/>
                  <a:pt x="338083" y="354681"/>
                  <a:pt x="483476" y="316143"/>
                </a:cubicBezTo>
                <a:cubicBezTo>
                  <a:pt x="628869" y="277605"/>
                  <a:pt x="735725" y="168998"/>
                  <a:pt x="872359" y="116446"/>
                </a:cubicBezTo>
                <a:cubicBezTo>
                  <a:pt x="1008994" y="63894"/>
                  <a:pt x="1163145" y="9591"/>
                  <a:pt x="1303283" y="832"/>
                </a:cubicBezTo>
                <a:cubicBezTo>
                  <a:pt x="1443421" y="-7927"/>
                  <a:pt x="1588814" y="55135"/>
                  <a:pt x="1713186" y="63894"/>
                </a:cubicBezTo>
                <a:cubicBezTo>
                  <a:pt x="1837558" y="72653"/>
                  <a:pt x="1958427" y="62143"/>
                  <a:pt x="2049517" y="53384"/>
                </a:cubicBezTo>
                <a:cubicBezTo>
                  <a:pt x="2140607" y="44625"/>
                  <a:pt x="2173890" y="833"/>
                  <a:pt x="2259724" y="11343"/>
                </a:cubicBezTo>
                <a:cubicBezTo>
                  <a:pt x="2345559" y="21853"/>
                  <a:pt x="2471683" y="81412"/>
                  <a:pt x="2564524" y="116446"/>
                </a:cubicBezTo>
                <a:cubicBezTo>
                  <a:pt x="2657365" y="151480"/>
                  <a:pt x="2718676" y="188267"/>
                  <a:pt x="2816772" y="221550"/>
                </a:cubicBezTo>
                <a:cubicBezTo>
                  <a:pt x="2914868" y="254833"/>
                  <a:pt x="3049751" y="291619"/>
                  <a:pt x="3153103" y="316143"/>
                </a:cubicBezTo>
                <a:cubicBezTo>
                  <a:pt x="3256455" y="340667"/>
                  <a:pt x="3436883" y="368694"/>
                  <a:pt x="3436883" y="368694"/>
                </a:cubicBezTo>
                <a:lnTo>
                  <a:pt x="3436883" y="368694"/>
                </a:lnTo>
                <a:lnTo>
                  <a:pt x="3436883" y="368694"/>
                </a:ln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B2F883AE-1562-D143-4BE0-20231AD81C38}"/>
              </a:ext>
            </a:extLst>
          </p:cNvPr>
          <p:cNvCxnSpPr>
            <a:cxnSpLocks/>
          </p:cNvCxnSpPr>
          <p:nvPr/>
        </p:nvCxnSpPr>
        <p:spPr>
          <a:xfrm>
            <a:off x="3079531" y="5233439"/>
            <a:ext cx="0" cy="37880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40920E2-55EA-91ED-28DF-72896EF0E6CE}"/>
                  </a:ext>
                </a:extLst>
              </p:cNvPr>
              <p:cNvSpPr txBox="1"/>
              <p:nvPr/>
            </p:nvSpPr>
            <p:spPr>
              <a:xfrm>
                <a:off x="3136356" y="5305361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440920E2-55EA-91ED-28DF-72896EF0E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356" y="5305361"/>
                <a:ext cx="227948" cy="276999"/>
              </a:xfrm>
              <a:prstGeom prst="rect">
                <a:avLst/>
              </a:prstGeom>
              <a:blipFill>
                <a:blip r:embed="rId7"/>
                <a:stretch>
                  <a:fillRect l="-10526" r="-15789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A04D317B-FC9B-E9D6-21F3-E2B9FC848C07}"/>
                  </a:ext>
                </a:extLst>
              </p:cNvPr>
              <p:cNvSpPr txBox="1"/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A04D317B-FC9B-E9D6-21F3-E2B9FC848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153" y="3802599"/>
                <a:ext cx="181075" cy="276999"/>
              </a:xfrm>
              <a:prstGeom prst="rect">
                <a:avLst/>
              </a:prstGeom>
              <a:blipFill>
                <a:blip r:embed="rId8"/>
                <a:stretch>
                  <a:fillRect l="-6667" r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2813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1C630-E68C-60C2-55EC-45E9662C8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C39E948-4BFD-337B-2B8F-D1331B8F6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834" y="1714462"/>
            <a:ext cx="4130588" cy="673465"/>
          </a:xfrm>
          <a:prstGeom prst="rect">
            <a:avLst/>
          </a:prstGeom>
        </p:spPr>
      </p:pic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D8A2A818-7EB4-258C-6519-19D4B723E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Conservative Variables:					</a:t>
            </a:r>
          </a:p>
          <a:p>
            <a:pPr marL="0" indent="0">
              <a:buNone/>
            </a:pPr>
            <a:r>
              <a:rPr lang="de-AT" b="1" i="1"/>
              <a:t>				</a:t>
            </a:r>
            <a:endParaRPr lang="de-AT" i="1"/>
          </a:p>
          <a:p>
            <a:pPr marL="0" indent="0">
              <a:buNone/>
            </a:pPr>
            <a:r>
              <a:rPr lang="de-AT" i="1"/>
              <a:t>				           </a:t>
            </a:r>
            <a:r>
              <a:rPr lang="de-AT" b="1" i="1"/>
              <a:t>				      		</a:t>
            </a:r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B16D32D6-9019-447F-59D9-90D9F6BFF1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24297E26-1087-9FCC-65E0-D7AEACEF5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F64AAD9-F8D9-55AF-0480-56E8915F2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6209E7-7767-1CC1-83FB-D1B309BBF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397D9EC-2F3E-89E4-8EA4-FC3F86343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729" y="2953301"/>
            <a:ext cx="2964893" cy="2021518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8A6D575C-A444-AEBE-6610-6BA1958EE76D}"/>
              </a:ext>
            </a:extLst>
          </p:cNvPr>
          <p:cNvSpPr/>
          <p:nvPr/>
        </p:nvSpPr>
        <p:spPr>
          <a:xfrm>
            <a:off x="3886203" y="1698171"/>
            <a:ext cx="4212772" cy="6653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EF409A11-C255-1EFC-BA0B-B93EA3B670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167782"/>
            <a:ext cx="1686129" cy="143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017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0278-FFAA-E250-82A0-DF1E16DFD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9ACE6DAB-D3CA-BBE5-601C-3DD0152A6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Finite Volume Method:					</a:t>
            </a:r>
          </a:p>
          <a:p>
            <a:pPr marL="0" indent="0">
              <a:buNone/>
            </a:pPr>
            <a:r>
              <a:rPr lang="de-AT" b="1" i="1"/>
              <a:t>				</a:t>
            </a:r>
            <a:endParaRPr lang="de-AT" i="1"/>
          </a:p>
          <a:p>
            <a:pPr marL="0" indent="0">
              <a:buNone/>
            </a:pPr>
            <a:r>
              <a:rPr lang="de-AT" i="1"/>
              <a:t>				           </a:t>
            </a:r>
            <a:r>
              <a:rPr lang="de-AT" b="1" i="1"/>
              <a:t>				      		</a:t>
            </a:r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13969A76-E24C-D488-884A-4C53F347D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Space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F9DDFD5-1107-43E6-582E-222CFDDEBC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54966B9-809D-7A4C-1670-4C8B6A9D1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C57A47-143C-C1A8-F4A4-F663AC8D0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674DBD9-98B7-F54A-EACF-5C203061E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678" y="1810657"/>
            <a:ext cx="7471227" cy="1030514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D53845A-AE83-D16A-5BE6-43057F768CBD}"/>
              </a:ext>
            </a:extLst>
          </p:cNvPr>
          <p:cNvSpPr txBox="1"/>
          <p:nvPr/>
        </p:nvSpPr>
        <p:spPr>
          <a:xfrm>
            <a:off x="2100943" y="4985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/>
          </a:p>
        </p:txBody>
      </p:sp>
      <p:sp>
        <p:nvSpPr>
          <p:cNvPr id="11" name="Inhaltsplatzhalter 22">
            <a:extLst>
              <a:ext uri="{FF2B5EF4-FFF2-40B4-BE49-F238E27FC236}">
                <a16:creationId xmlns:a16="http://schemas.microsoft.com/office/drawing/2014/main" id="{71CC7B7C-4B6C-9B06-1B24-230525AA4B35}"/>
              </a:ext>
            </a:extLst>
          </p:cNvPr>
          <p:cNvSpPr txBox="1">
            <a:spLocks/>
          </p:cNvSpPr>
          <p:nvPr/>
        </p:nvSpPr>
        <p:spPr>
          <a:xfrm>
            <a:off x="1618658" y="3935603"/>
            <a:ext cx="2062877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Cell average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sp>
        <p:nvSpPr>
          <p:cNvPr id="12" name="Inhaltsplatzhalter 22">
            <a:extLst>
              <a:ext uri="{FF2B5EF4-FFF2-40B4-BE49-F238E27FC236}">
                <a16:creationId xmlns:a16="http://schemas.microsoft.com/office/drawing/2014/main" id="{9519A88B-7CE5-2093-A356-85521F9F5FDC}"/>
              </a:ext>
            </a:extLst>
          </p:cNvPr>
          <p:cNvSpPr txBox="1">
            <a:spLocks/>
          </p:cNvSpPr>
          <p:nvPr/>
        </p:nvSpPr>
        <p:spPr>
          <a:xfrm>
            <a:off x="4532784" y="3935604"/>
            <a:ext cx="2062877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Numerical Flux in x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sp>
        <p:nvSpPr>
          <p:cNvPr id="14" name="Inhaltsplatzhalter 22">
            <a:extLst>
              <a:ext uri="{FF2B5EF4-FFF2-40B4-BE49-F238E27FC236}">
                <a16:creationId xmlns:a16="http://schemas.microsoft.com/office/drawing/2014/main" id="{039F79A1-533C-F45E-2DDA-918BAD8360A6}"/>
              </a:ext>
            </a:extLst>
          </p:cNvPr>
          <p:cNvSpPr txBox="1">
            <a:spLocks/>
          </p:cNvSpPr>
          <p:nvPr/>
        </p:nvSpPr>
        <p:spPr>
          <a:xfrm>
            <a:off x="7863812" y="3935605"/>
            <a:ext cx="2062877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Numerical Flux in y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F59E05C-7305-BD39-09E8-E7745D705320}"/>
              </a:ext>
            </a:extLst>
          </p:cNvPr>
          <p:cNvCxnSpPr/>
          <p:nvPr/>
        </p:nvCxnSpPr>
        <p:spPr>
          <a:xfrm flipH="1">
            <a:off x="2471057" y="2928257"/>
            <a:ext cx="315686" cy="72934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449865A-A59C-5D3F-B809-36E40B865D56}"/>
              </a:ext>
            </a:extLst>
          </p:cNvPr>
          <p:cNvCxnSpPr>
            <a:cxnSpLocks/>
          </p:cNvCxnSpPr>
          <p:nvPr/>
        </p:nvCxnSpPr>
        <p:spPr>
          <a:xfrm>
            <a:off x="5475514" y="2868385"/>
            <a:ext cx="0" cy="78921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D142AFE-4AB1-26B4-51B7-EDA9B2017D46}"/>
              </a:ext>
            </a:extLst>
          </p:cNvPr>
          <p:cNvCxnSpPr>
            <a:cxnSpLocks/>
          </p:cNvCxnSpPr>
          <p:nvPr/>
        </p:nvCxnSpPr>
        <p:spPr>
          <a:xfrm>
            <a:off x="8153400" y="2819399"/>
            <a:ext cx="392966" cy="76200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628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61440-81D8-D98F-B2DD-679F65ADC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72D861C5-4139-657B-B1D1-0D16D5EC6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>
                <a:solidFill>
                  <a:schemeClr val="accent2"/>
                </a:solidFill>
              </a:rPr>
              <a:t>Fluxes </a:t>
            </a:r>
            <a:r>
              <a:rPr lang="de-AT" b="1" i="1">
                <a:solidFill>
                  <a:schemeClr val="tx1"/>
                </a:solidFill>
              </a:rPr>
              <a:t>and</a:t>
            </a:r>
            <a:r>
              <a:rPr lang="de-AT" b="1" i="1">
                <a:solidFill>
                  <a:schemeClr val="accent2"/>
                </a:solidFill>
              </a:rPr>
              <a:t> </a:t>
            </a:r>
            <a:r>
              <a:rPr lang="de-AT" b="1" i="1">
                <a:solidFill>
                  <a:srgbClr val="00B0F0"/>
                </a:solidFill>
              </a:rPr>
              <a:t>Cell Averages</a:t>
            </a:r>
            <a:r>
              <a:rPr lang="de-AT" b="1" i="1"/>
              <a:t>					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r>
              <a:rPr lang="de-AT" b="1" i="1"/>
              <a:t>		                    	</a:t>
            </a:r>
            <a:endParaRPr lang="de-AT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A8A24D3A-5FCB-1546-F20F-EBB25ABC9E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Space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EB454FD-1D1A-770B-5EA5-23B317F52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6DA4D-0248-A8AE-527A-AF8C6CA1B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675021D-2E73-7629-9D3C-49246E5B0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C729F65-5FB3-1E79-C832-408A555B44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12" r="61863"/>
          <a:stretch>
            <a:fillRect/>
          </a:stretch>
        </p:blipFill>
        <p:spPr>
          <a:xfrm>
            <a:off x="4257890" y="1433589"/>
            <a:ext cx="3420331" cy="2576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4ED3D78-9FCD-3C27-542A-9DF81F554DDB}"/>
                  </a:ext>
                </a:extLst>
              </p:cNvPr>
              <p:cNvSpPr txBox="1"/>
              <p:nvPr/>
            </p:nvSpPr>
            <p:spPr>
              <a:xfrm>
                <a:off x="3689369" y="4113468"/>
                <a:ext cx="542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AT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AT" b="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34ED3D78-9FCD-3C27-542A-9DF81F554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369" y="4113468"/>
                <a:ext cx="542200" cy="369332"/>
              </a:xfrm>
              <a:prstGeom prst="rect">
                <a:avLst/>
              </a:prstGeom>
              <a:blipFill>
                <a:blip r:embed="rId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CA23F6E-5DD6-B626-B24E-090B9E51ED17}"/>
                  </a:ext>
                </a:extLst>
              </p:cNvPr>
              <p:cNvSpPr txBox="1"/>
              <p:nvPr/>
            </p:nvSpPr>
            <p:spPr>
              <a:xfrm>
                <a:off x="4900485" y="4414656"/>
                <a:ext cx="2063706" cy="483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 →</m:t>
                    </m:r>
                  </m:oMath>
                </a14:m>
                <a:r>
                  <a:rPr lang="de-DE">
                    <a:solidFill>
                      <a:schemeClr val="accent2"/>
                    </a:solidFill>
                  </a:rPr>
                  <a:t>     Fluxes</a:t>
                </a:r>
                <a:endParaRPr lang="de-DE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CA23F6E-5DD6-B626-B24E-090B9E51E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485" y="4414656"/>
                <a:ext cx="2063706" cy="483466"/>
              </a:xfrm>
              <a:prstGeom prst="rect">
                <a:avLst/>
              </a:prstGeom>
              <a:blipFill>
                <a:blip r:embed="rId5"/>
                <a:stretch>
                  <a:fillRect r="-1829" b="-76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0678458-E9EC-527E-8FFA-D61EE1EF59B3}"/>
              </a:ext>
            </a:extLst>
          </p:cNvPr>
          <p:cNvCxnSpPr>
            <a:cxnSpLocks/>
          </p:cNvCxnSpPr>
          <p:nvPr/>
        </p:nvCxnSpPr>
        <p:spPr>
          <a:xfrm flipV="1">
            <a:off x="5346280" y="3370517"/>
            <a:ext cx="0" cy="105625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216FF34B-F898-FD9B-4E8F-7081569E7A23}"/>
              </a:ext>
            </a:extLst>
          </p:cNvPr>
          <p:cNvCxnSpPr>
            <a:cxnSpLocks/>
          </p:cNvCxnSpPr>
          <p:nvPr/>
        </p:nvCxnSpPr>
        <p:spPr>
          <a:xfrm flipV="1">
            <a:off x="4109234" y="3370517"/>
            <a:ext cx="893135" cy="77904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CE683ECD-42A6-8A48-EDC8-417FFCF5945C}"/>
                  </a:ext>
                </a:extLst>
              </p:cNvPr>
              <p:cNvSpPr txBox="1"/>
              <p:nvPr/>
            </p:nvSpPr>
            <p:spPr>
              <a:xfrm>
                <a:off x="1567543" y="2759581"/>
                <a:ext cx="2121826" cy="4834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>
                    <a:solidFill>
                      <a:schemeClr val="accent2"/>
                    </a:solidFill>
                  </a:rPr>
                  <a:t>Fluxes     </a:t>
                </a:r>
                <a14:m>
                  <m:oMath xmlns:m="http://schemas.openxmlformats.org/officeDocument/2006/math">
                    <m: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de-AT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j</m:t>
                    </m:r>
                    <m:r>
                      <a:rPr lang="de-AT" b="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AT" b="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de-DE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CE683ECD-42A6-8A48-EDC8-417FFCF59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543" y="2759581"/>
                <a:ext cx="2121826" cy="483466"/>
              </a:xfrm>
              <a:prstGeom prst="rect">
                <a:avLst/>
              </a:prstGeom>
              <a:blipFill>
                <a:blip r:embed="rId6"/>
                <a:stretch>
                  <a:fillRect l="-2381" b="-769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B7FB8B7-2BCA-389B-6A35-9110FD85B1EB}"/>
              </a:ext>
            </a:extLst>
          </p:cNvPr>
          <p:cNvCxnSpPr>
            <a:cxnSpLocks/>
          </p:cNvCxnSpPr>
          <p:nvPr/>
        </p:nvCxnSpPr>
        <p:spPr>
          <a:xfrm>
            <a:off x="3689369" y="3040235"/>
            <a:ext cx="1387428" cy="14181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48B75D91-CCCD-B5B7-8BAE-927AB223B501}"/>
              </a:ext>
            </a:extLst>
          </p:cNvPr>
          <p:cNvCxnSpPr>
            <a:cxnSpLocks/>
          </p:cNvCxnSpPr>
          <p:nvPr/>
        </p:nvCxnSpPr>
        <p:spPr>
          <a:xfrm flipH="1" flipV="1">
            <a:off x="3280030" y="4330033"/>
            <a:ext cx="409339" cy="4199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A80346D6-E545-EFE3-D0C7-479D46CAEE41}"/>
              </a:ext>
            </a:extLst>
          </p:cNvPr>
          <p:cNvSpPr txBox="1"/>
          <p:nvPr/>
        </p:nvSpPr>
        <p:spPr>
          <a:xfrm>
            <a:off x="1833352" y="4123595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i="1">
                <a:solidFill>
                  <a:srgbClr val="00B0F0"/>
                </a:solidFill>
              </a:rPr>
              <a:t>Cell Average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9269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6DACF-0F4D-90C8-98FE-E4132D6EB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599AF925-7F4F-F5C5-2916-32FB60C8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>
                <a:solidFill>
                  <a:schemeClr val="accent2"/>
                </a:solidFill>
              </a:rPr>
              <a:t>Fluxes</a:t>
            </a:r>
            <a:r>
              <a:rPr lang="de-AT" b="1" i="1"/>
              <a:t>					</a:t>
            </a:r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r>
              <a:rPr lang="de-AT" b="1" i="1"/>
              <a:t>		                    	</a:t>
            </a:r>
            <a:endParaRPr lang="de-AT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B49FFEED-B71F-BBB9-F739-96FC5A0D0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Space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5C0961D-DBD6-C659-4974-891897B8D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A07D554-5BF2-FBFB-2876-8570A0959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81C260-2298-6ED1-08C8-97CE017A3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FFBBFF1-7AC8-8B7E-8B60-26928B1F3A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912" r="61863"/>
          <a:stretch>
            <a:fillRect/>
          </a:stretch>
        </p:blipFill>
        <p:spPr>
          <a:xfrm>
            <a:off x="1569119" y="1285972"/>
            <a:ext cx="3420331" cy="25766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C368A56-6F03-A91C-6F85-49F03978D3D1}"/>
                  </a:ext>
                </a:extLst>
              </p:cNvPr>
              <p:cNvSpPr txBox="1"/>
              <p:nvPr/>
            </p:nvSpPr>
            <p:spPr>
              <a:xfrm>
                <a:off x="1330347" y="4407346"/>
                <a:ext cx="6354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AT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AT" b="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FC368A56-6F03-A91C-6F85-49F03978D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347" y="4407346"/>
                <a:ext cx="635481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38D1662-C4DB-99B5-0689-879AF31D06EA}"/>
                  </a:ext>
                </a:extLst>
              </p:cNvPr>
              <p:cNvSpPr txBox="1"/>
              <p:nvPr/>
            </p:nvSpPr>
            <p:spPr>
              <a:xfrm>
                <a:off x="2211714" y="4267039"/>
                <a:ext cx="893135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de-DE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38D1662-C4DB-99B5-0689-879AF31D0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714" y="4267039"/>
                <a:ext cx="893135" cy="610936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619056F-4FF4-130D-E795-85E859A32169}"/>
              </a:ext>
            </a:extLst>
          </p:cNvPr>
          <p:cNvCxnSpPr>
            <a:cxnSpLocks/>
          </p:cNvCxnSpPr>
          <p:nvPr/>
        </p:nvCxnSpPr>
        <p:spPr>
          <a:xfrm flipV="1">
            <a:off x="2657509" y="3222900"/>
            <a:ext cx="0" cy="1056252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481C554-E2D1-B523-6520-C82ACA6A24AF}"/>
              </a:ext>
            </a:extLst>
          </p:cNvPr>
          <p:cNvCxnSpPr>
            <a:cxnSpLocks/>
          </p:cNvCxnSpPr>
          <p:nvPr/>
        </p:nvCxnSpPr>
        <p:spPr>
          <a:xfrm flipV="1">
            <a:off x="1719943" y="3222900"/>
            <a:ext cx="593655" cy="1112283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E26D25A9-953D-196A-AFCD-43BC5A44D801}"/>
              </a:ext>
            </a:extLst>
          </p:cNvPr>
          <p:cNvCxnSpPr>
            <a:cxnSpLocks/>
          </p:cNvCxnSpPr>
          <p:nvPr/>
        </p:nvCxnSpPr>
        <p:spPr>
          <a:xfrm flipH="1" flipV="1">
            <a:off x="3069838" y="3256367"/>
            <a:ext cx="730357" cy="1078816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EEF3F514-A8C0-9A11-8B64-2AE73B04E051}"/>
                  </a:ext>
                </a:extLst>
              </p:cNvPr>
              <p:cNvSpPr txBox="1"/>
              <p:nvPr/>
            </p:nvSpPr>
            <p:spPr>
              <a:xfrm>
                <a:off x="3435016" y="4426610"/>
                <a:ext cx="10487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AT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AT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AT" b="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EEF3F514-A8C0-9A11-8B64-2AE73B04E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016" y="4426610"/>
                <a:ext cx="1048749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Inhaltsplatzhalter 22">
            <a:extLst>
              <a:ext uri="{FF2B5EF4-FFF2-40B4-BE49-F238E27FC236}">
                <a16:creationId xmlns:a16="http://schemas.microsoft.com/office/drawing/2014/main" id="{E04534FA-0FE6-86DA-F1B2-8B4D6437C466}"/>
              </a:ext>
            </a:extLst>
          </p:cNvPr>
          <p:cNvSpPr txBox="1">
            <a:spLocks/>
          </p:cNvSpPr>
          <p:nvPr/>
        </p:nvSpPr>
        <p:spPr>
          <a:xfrm>
            <a:off x="5564223" y="4407346"/>
            <a:ext cx="2866256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Local Discontinuities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sp>
        <p:nvSpPr>
          <p:cNvPr id="20" name="Inhaltsplatzhalter 22">
            <a:extLst>
              <a:ext uri="{FF2B5EF4-FFF2-40B4-BE49-F238E27FC236}">
                <a16:creationId xmlns:a16="http://schemas.microsoft.com/office/drawing/2014/main" id="{CFC4CB1F-C9F3-FCD3-9305-C2E554971CE1}"/>
              </a:ext>
            </a:extLst>
          </p:cNvPr>
          <p:cNvSpPr txBox="1">
            <a:spLocks/>
          </p:cNvSpPr>
          <p:nvPr/>
        </p:nvSpPr>
        <p:spPr>
          <a:xfrm>
            <a:off x="9170638" y="4407345"/>
            <a:ext cx="2866256" cy="369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Approximate Fluxes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FDDD5DE2-F11D-4DF0-4808-857DC65DA4A8}"/>
              </a:ext>
            </a:extLst>
          </p:cNvPr>
          <p:cNvCxnSpPr/>
          <p:nvPr/>
        </p:nvCxnSpPr>
        <p:spPr>
          <a:xfrm>
            <a:off x="4626429" y="4611276"/>
            <a:ext cx="63137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CCD57151-796F-77C5-BAE0-C15EC4C547E8}"/>
              </a:ext>
            </a:extLst>
          </p:cNvPr>
          <p:cNvCxnSpPr/>
          <p:nvPr/>
        </p:nvCxnSpPr>
        <p:spPr>
          <a:xfrm>
            <a:off x="7995051" y="4572507"/>
            <a:ext cx="63137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Inhaltsplatzhalter 22">
            <a:extLst>
              <a:ext uri="{FF2B5EF4-FFF2-40B4-BE49-F238E27FC236}">
                <a16:creationId xmlns:a16="http://schemas.microsoft.com/office/drawing/2014/main" id="{474B9242-1C6A-5332-3231-48EBAFF3BD49}"/>
              </a:ext>
            </a:extLst>
          </p:cNvPr>
          <p:cNvSpPr txBox="1">
            <a:spLocks/>
          </p:cNvSpPr>
          <p:nvPr/>
        </p:nvSpPr>
        <p:spPr>
          <a:xfrm>
            <a:off x="9325744" y="2820910"/>
            <a:ext cx="2866256" cy="4354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Riemann Solvers !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9925483A-1B8D-010C-E7F9-578D48693A80}"/>
              </a:ext>
            </a:extLst>
          </p:cNvPr>
          <p:cNvCxnSpPr>
            <a:cxnSpLocks/>
          </p:cNvCxnSpPr>
          <p:nvPr/>
        </p:nvCxnSpPr>
        <p:spPr>
          <a:xfrm flipV="1">
            <a:off x="10173274" y="3429000"/>
            <a:ext cx="0" cy="63779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7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allAtOnce"/>
      <p:bldP spid="20" grpId="0" build="allAtOnce"/>
      <p:bldP spid="26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79E1-40C4-CB42-D466-6B403B6A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AB5B1A04-747C-608E-5A32-8B2AF9F7B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Reconstruction:					</a:t>
            </a:r>
          </a:p>
          <a:p>
            <a:pPr marL="0" indent="0">
              <a:buNone/>
            </a:pPr>
            <a:r>
              <a:rPr lang="de-AT" b="1" i="1"/>
              <a:t>				</a:t>
            </a:r>
            <a:endParaRPr lang="de-AT" i="1"/>
          </a:p>
          <a:p>
            <a:pPr marL="0" indent="0">
              <a:buNone/>
            </a:pPr>
            <a:r>
              <a:rPr lang="de-AT" i="1"/>
              <a:t>				           </a:t>
            </a:r>
            <a:r>
              <a:rPr lang="de-AT" b="1" i="1"/>
              <a:t>				      		</a:t>
            </a:r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EECD1DFD-1264-120B-E386-5038129B4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Space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A2EBAAF-B954-F8C3-0F25-D7A1B8995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6A29D6F-72D0-56CE-C903-FB1132575B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6A5373-0795-DF62-A396-13D747161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92267C7-2F22-635D-2559-129B36706085}"/>
              </a:ext>
            </a:extLst>
          </p:cNvPr>
          <p:cNvSpPr txBox="1"/>
          <p:nvPr/>
        </p:nvSpPr>
        <p:spPr>
          <a:xfrm>
            <a:off x="2100943" y="4985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/>
          </a:p>
        </p:txBody>
      </p:sp>
      <p:sp>
        <p:nvSpPr>
          <p:cNvPr id="13" name="Inhaltsplatzhalter 22">
            <a:extLst>
              <a:ext uri="{FF2B5EF4-FFF2-40B4-BE49-F238E27FC236}">
                <a16:creationId xmlns:a16="http://schemas.microsoft.com/office/drawing/2014/main" id="{34CC8963-433D-3D21-01C6-25D1D9D5821C}"/>
              </a:ext>
            </a:extLst>
          </p:cNvPr>
          <p:cNvSpPr txBox="1">
            <a:spLocks/>
          </p:cNvSpPr>
          <p:nvPr/>
        </p:nvSpPr>
        <p:spPr>
          <a:xfrm>
            <a:off x="2516274" y="4771072"/>
            <a:ext cx="2915760" cy="12549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AT" sz="1800" i="1"/>
              <a:t> First order accurate</a:t>
            </a:r>
          </a:p>
          <a:p>
            <a:pPr>
              <a:buFontTx/>
              <a:buChar char="-"/>
            </a:pPr>
            <a:r>
              <a:rPr lang="de-AT" sz="1800" i="1"/>
              <a:t>Very diffusive</a:t>
            </a:r>
          </a:p>
          <a:p>
            <a:pPr>
              <a:buFontTx/>
              <a:buChar char="-"/>
            </a:pPr>
            <a:r>
              <a:rPr lang="de-AT" sz="1800" i="1"/>
              <a:t>Very robust</a:t>
            </a:r>
            <a:endParaRPr lang="de-AT" sz="1600" i="1"/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sp>
        <p:nvSpPr>
          <p:cNvPr id="16" name="Inhaltsplatzhalter 22">
            <a:extLst>
              <a:ext uri="{FF2B5EF4-FFF2-40B4-BE49-F238E27FC236}">
                <a16:creationId xmlns:a16="http://schemas.microsoft.com/office/drawing/2014/main" id="{F41B1E70-DA5C-12D7-475A-4A23AC47B77B}"/>
              </a:ext>
            </a:extLst>
          </p:cNvPr>
          <p:cNvSpPr txBox="1">
            <a:spLocks/>
          </p:cNvSpPr>
          <p:nvPr/>
        </p:nvSpPr>
        <p:spPr>
          <a:xfrm>
            <a:off x="6587134" y="4771072"/>
            <a:ext cx="3248981" cy="1340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de-AT" sz="1800" i="1"/>
              <a:t>Second order accurate</a:t>
            </a:r>
          </a:p>
          <a:p>
            <a:pPr>
              <a:buFontTx/>
              <a:buChar char="-"/>
            </a:pPr>
            <a:r>
              <a:rPr lang="de-AT" sz="1800" i="1"/>
              <a:t>Non-physical osciallations in near shocks</a:t>
            </a:r>
          </a:p>
          <a:p>
            <a:pPr>
              <a:buFontTx/>
              <a:buChar char="-"/>
            </a:pPr>
            <a:r>
              <a:rPr lang="de-AT" sz="1800" i="1"/>
              <a:t>Needs a slope limiter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D082217-2FD8-552C-9049-C6A37E159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740" y="2041025"/>
            <a:ext cx="5260520" cy="182445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CB78B1B-699E-462A-C4DC-86035EB07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0" y="981075"/>
            <a:ext cx="3302000" cy="7239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729244B-3DE7-9891-2C03-A1ED9A56A4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2912" r="61863"/>
          <a:stretch>
            <a:fillRect/>
          </a:stretch>
        </p:blipFill>
        <p:spPr>
          <a:xfrm>
            <a:off x="8784809" y="289843"/>
            <a:ext cx="2523910" cy="19013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559AA87-0C8E-0B4B-D52E-46D3C246F8F5}"/>
                  </a:ext>
                </a:extLst>
              </p:cNvPr>
              <p:cNvSpPr txBox="1"/>
              <p:nvPr/>
            </p:nvSpPr>
            <p:spPr>
              <a:xfrm>
                <a:off x="8773917" y="2448877"/>
                <a:ext cx="4689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AT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AT" b="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559AA87-0C8E-0B4B-D52E-46D3C246F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17" y="2448877"/>
                <a:ext cx="468930" cy="369332"/>
              </a:xfrm>
              <a:prstGeom prst="rect">
                <a:avLst/>
              </a:prstGeom>
              <a:blipFill>
                <a:blip r:embed="rId6"/>
                <a:stretch>
                  <a:fillRect r="-10526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9E73F11-24A3-A823-96C9-3EE9C90AB2AA}"/>
                  </a:ext>
                </a:extLst>
              </p:cNvPr>
              <p:cNvSpPr txBox="1"/>
              <p:nvPr/>
            </p:nvSpPr>
            <p:spPr>
              <a:xfrm>
                <a:off x="9217306" y="2372929"/>
                <a:ext cx="85812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de-AT" b="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de-AT" b="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j</m:t>
                      </m:r>
                    </m:oMath>
                  </m:oMathPara>
                </a14:m>
                <a:endParaRPr lang="de-DE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9E73F11-24A3-A823-96C9-3EE9C90AB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7306" y="2372929"/>
                <a:ext cx="858120" cy="610936"/>
              </a:xfrm>
              <a:prstGeom prst="rect">
                <a:avLst/>
              </a:prstGeom>
              <a:blipFill>
                <a:blip r:embed="rId7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4D4F389-D97D-2CC6-AD7C-954B66500F55}"/>
              </a:ext>
            </a:extLst>
          </p:cNvPr>
          <p:cNvCxnSpPr>
            <a:cxnSpLocks/>
          </p:cNvCxnSpPr>
          <p:nvPr/>
        </p:nvCxnSpPr>
        <p:spPr>
          <a:xfrm flipV="1">
            <a:off x="9590169" y="1732690"/>
            <a:ext cx="0" cy="630606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EB2784DE-04B9-D89F-4C31-A8AE594D6177}"/>
              </a:ext>
            </a:extLst>
          </p:cNvPr>
          <p:cNvCxnSpPr>
            <a:cxnSpLocks/>
          </p:cNvCxnSpPr>
          <p:nvPr/>
        </p:nvCxnSpPr>
        <p:spPr>
          <a:xfrm flipV="1">
            <a:off x="9096175" y="1704975"/>
            <a:ext cx="303086" cy="658321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119D4AA-1B23-C36D-7718-DBDEF1557D35}"/>
              </a:ext>
            </a:extLst>
          </p:cNvPr>
          <p:cNvCxnSpPr>
            <a:cxnSpLocks/>
          </p:cNvCxnSpPr>
          <p:nvPr/>
        </p:nvCxnSpPr>
        <p:spPr>
          <a:xfrm flipH="1" flipV="1">
            <a:off x="9836115" y="1725599"/>
            <a:ext cx="406510" cy="613035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F14BAE5D-B0F9-4368-D1DC-E70539533F35}"/>
                  </a:ext>
                </a:extLst>
              </p:cNvPr>
              <p:cNvSpPr txBox="1"/>
              <p:nvPr/>
            </p:nvSpPr>
            <p:spPr>
              <a:xfrm>
                <a:off x="10039370" y="2453853"/>
                <a:ext cx="11276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de-AT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+ 1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de-AT" b="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AT" b="0" i="1">
                  <a:solidFill>
                    <a:srgbClr val="00B0F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F14BAE5D-B0F9-4368-D1DC-E70539533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9370" y="2453853"/>
                <a:ext cx="1127638" cy="369332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4F97B266-0956-E245-B37D-FD63E5C88E5D}"/>
              </a:ext>
            </a:extLst>
          </p:cNvPr>
          <p:cNvSpPr/>
          <p:nvPr/>
        </p:nvSpPr>
        <p:spPr>
          <a:xfrm>
            <a:off x="6488966" y="1130142"/>
            <a:ext cx="543205" cy="339429"/>
          </a:xfrm>
          <a:prstGeom prst="rect">
            <a:avLst/>
          </a:prstGeom>
          <a:gradFill>
            <a:gsLst>
              <a:gs pos="0">
                <a:schemeClr val="accent4">
                  <a:satMod val="103000"/>
                  <a:lumMod val="102000"/>
                  <a:tint val="94000"/>
                  <a:alpha val="51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  <a:alpha val="54759"/>
                </a:schemeClr>
              </a:gs>
              <a:gs pos="100000">
                <a:schemeClr val="accent4">
                  <a:lumMod val="99000"/>
                  <a:satMod val="120000"/>
                  <a:shade val="78000"/>
                  <a:alpha val="54018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BC1581B-5642-E4D6-C142-ABC85CB8C945}"/>
              </a:ext>
            </a:extLst>
          </p:cNvPr>
          <p:cNvSpPr/>
          <p:nvPr/>
        </p:nvSpPr>
        <p:spPr>
          <a:xfrm>
            <a:off x="9225279" y="1593670"/>
            <a:ext cx="248133" cy="265402"/>
          </a:xfrm>
          <a:prstGeom prst="rect">
            <a:avLst/>
          </a:prstGeom>
          <a:gradFill>
            <a:gsLst>
              <a:gs pos="0">
                <a:schemeClr val="accent4">
                  <a:satMod val="103000"/>
                  <a:lumMod val="102000"/>
                  <a:tint val="94000"/>
                  <a:alpha val="51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  <a:alpha val="54759"/>
                </a:schemeClr>
              </a:gs>
              <a:gs pos="100000">
                <a:schemeClr val="accent4">
                  <a:lumMod val="99000"/>
                  <a:satMod val="120000"/>
                  <a:shade val="78000"/>
                  <a:alpha val="54018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A72A2ECC-0C7F-E395-5D80-39DCCE43D8E2}"/>
              </a:ext>
            </a:extLst>
          </p:cNvPr>
          <p:cNvSpPr/>
          <p:nvPr/>
        </p:nvSpPr>
        <p:spPr>
          <a:xfrm>
            <a:off x="9719357" y="1591262"/>
            <a:ext cx="248131" cy="265402"/>
          </a:xfrm>
          <a:prstGeom prst="rect">
            <a:avLst/>
          </a:prstGeom>
          <a:gradFill>
            <a:gsLst>
              <a:gs pos="0">
                <a:srgbClr val="7030A0">
                  <a:alpha val="51180"/>
                </a:srgbClr>
              </a:gs>
              <a:gs pos="50000">
                <a:srgbClr val="7030A0">
                  <a:alpha val="47991"/>
                </a:srgbClr>
              </a:gs>
              <a:gs pos="100000">
                <a:srgbClr val="7030A0">
                  <a:alpha val="48000"/>
                </a:srgb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C1AD7D7-B019-B954-C867-79AB6D2FD6F0}"/>
              </a:ext>
            </a:extLst>
          </p:cNvPr>
          <p:cNvSpPr/>
          <p:nvPr/>
        </p:nvSpPr>
        <p:spPr>
          <a:xfrm>
            <a:off x="7069532" y="1138775"/>
            <a:ext cx="543205" cy="339429"/>
          </a:xfrm>
          <a:prstGeom prst="rect">
            <a:avLst/>
          </a:prstGeom>
          <a:gradFill>
            <a:gsLst>
              <a:gs pos="0">
                <a:srgbClr val="7030A0">
                  <a:alpha val="51602"/>
                </a:srgbClr>
              </a:gs>
              <a:gs pos="49000">
                <a:srgbClr val="7030A0">
                  <a:alpha val="52380"/>
                </a:srgbClr>
              </a:gs>
              <a:gs pos="100000">
                <a:srgbClr val="7030A0">
                  <a:alpha val="50849"/>
                </a:srgb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08614CA8-6FCA-2F72-2343-FC94CC06C2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0560" y="4111489"/>
            <a:ext cx="1810856" cy="659583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48A2F097-9E5D-EAD0-81AB-062D9E0860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58145" y="4111489"/>
            <a:ext cx="1453640" cy="566673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31AF963E-210F-450A-A416-A158FA26C2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8966" y="4011048"/>
            <a:ext cx="4038600" cy="635000"/>
          </a:xfrm>
          <a:prstGeom prst="rect">
            <a:avLst/>
          </a:prstGeom>
        </p:spPr>
      </p:pic>
      <p:sp>
        <p:nvSpPr>
          <p:cNvPr id="42" name="Rechteck 41">
            <a:extLst>
              <a:ext uri="{FF2B5EF4-FFF2-40B4-BE49-F238E27FC236}">
                <a16:creationId xmlns:a16="http://schemas.microsoft.com/office/drawing/2014/main" id="{1F299ADA-BA17-D6D9-9951-16C254423C05}"/>
              </a:ext>
            </a:extLst>
          </p:cNvPr>
          <p:cNvSpPr/>
          <p:nvPr/>
        </p:nvSpPr>
        <p:spPr>
          <a:xfrm>
            <a:off x="2490367" y="4201209"/>
            <a:ext cx="543205" cy="339429"/>
          </a:xfrm>
          <a:prstGeom prst="rect">
            <a:avLst/>
          </a:prstGeom>
          <a:gradFill>
            <a:gsLst>
              <a:gs pos="0">
                <a:schemeClr val="accent4">
                  <a:satMod val="103000"/>
                  <a:lumMod val="102000"/>
                  <a:tint val="94000"/>
                  <a:alpha val="51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  <a:alpha val="54759"/>
                </a:schemeClr>
              </a:gs>
              <a:gs pos="100000">
                <a:schemeClr val="accent4">
                  <a:lumMod val="99000"/>
                  <a:satMod val="120000"/>
                  <a:shade val="78000"/>
                  <a:alpha val="54018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7664EAE-F752-21AC-C5D1-656FB02E0642}"/>
              </a:ext>
            </a:extLst>
          </p:cNvPr>
          <p:cNvSpPr/>
          <p:nvPr/>
        </p:nvSpPr>
        <p:spPr>
          <a:xfrm>
            <a:off x="6601732" y="4111489"/>
            <a:ext cx="543205" cy="339429"/>
          </a:xfrm>
          <a:prstGeom prst="rect">
            <a:avLst/>
          </a:prstGeom>
          <a:gradFill>
            <a:gsLst>
              <a:gs pos="0">
                <a:schemeClr val="accent4">
                  <a:satMod val="103000"/>
                  <a:lumMod val="102000"/>
                  <a:tint val="94000"/>
                  <a:alpha val="51000"/>
                </a:schemeClr>
              </a:gs>
              <a:gs pos="50000">
                <a:schemeClr val="accent4">
                  <a:satMod val="110000"/>
                  <a:lumMod val="100000"/>
                  <a:shade val="100000"/>
                  <a:alpha val="54759"/>
                </a:schemeClr>
              </a:gs>
              <a:gs pos="100000">
                <a:schemeClr val="accent4">
                  <a:lumMod val="99000"/>
                  <a:satMod val="120000"/>
                  <a:shade val="78000"/>
                  <a:alpha val="54018"/>
                </a:scheme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39C2ABD8-3751-005A-0D91-9A47EDB4642C}"/>
              </a:ext>
            </a:extLst>
          </p:cNvPr>
          <p:cNvSpPr/>
          <p:nvPr/>
        </p:nvSpPr>
        <p:spPr>
          <a:xfrm>
            <a:off x="4117732" y="4248695"/>
            <a:ext cx="543205" cy="339429"/>
          </a:xfrm>
          <a:prstGeom prst="rect">
            <a:avLst/>
          </a:prstGeom>
          <a:gradFill>
            <a:gsLst>
              <a:gs pos="0">
                <a:srgbClr val="7030A0">
                  <a:alpha val="51602"/>
                </a:srgbClr>
              </a:gs>
              <a:gs pos="49000">
                <a:srgbClr val="7030A0">
                  <a:alpha val="52380"/>
                </a:srgbClr>
              </a:gs>
              <a:gs pos="100000">
                <a:srgbClr val="7030A0">
                  <a:alpha val="50849"/>
                </a:srgb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948DE7A2-B64E-D11A-B0CB-A30F484157FA}"/>
              </a:ext>
            </a:extLst>
          </p:cNvPr>
          <p:cNvSpPr/>
          <p:nvPr/>
        </p:nvSpPr>
        <p:spPr>
          <a:xfrm>
            <a:off x="8612675" y="4091148"/>
            <a:ext cx="543205" cy="339429"/>
          </a:xfrm>
          <a:prstGeom prst="rect">
            <a:avLst/>
          </a:prstGeom>
          <a:gradFill>
            <a:gsLst>
              <a:gs pos="0">
                <a:srgbClr val="7030A0">
                  <a:alpha val="51602"/>
                </a:srgbClr>
              </a:gs>
              <a:gs pos="49000">
                <a:srgbClr val="7030A0">
                  <a:alpha val="52380"/>
                </a:srgbClr>
              </a:gs>
              <a:gs pos="100000">
                <a:srgbClr val="7030A0">
                  <a:alpha val="50849"/>
                </a:srgbClr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0026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09018-1A54-CC50-1D7E-FFB4C5B6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03EA529C-E854-E9AC-31CB-C53ED8345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Riemann Solvers:					</a:t>
            </a:r>
          </a:p>
          <a:p>
            <a:pPr marL="0" indent="0">
              <a:buNone/>
            </a:pPr>
            <a:r>
              <a:rPr lang="de-AT" b="1" i="1"/>
              <a:t>				</a:t>
            </a:r>
            <a:endParaRPr lang="de-AT" i="1"/>
          </a:p>
          <a:p>
            <a:pPr marL="0" indent="0">
              <a:buNone/>
            </a:pPr>
            <a:r>
              <a:rPr lang="de-AT" i="1"/>
              <a:t>				           </a:t>
            </a:r>
            <a:r>
              <a:rPr lang="de-AT" b="1" i="1"/>
              <a:t>				      		</a:t>
            </a:r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40D0962E-C146-E5BD-BFFD-F5E13BCB7F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Space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4923388-DF5D-C16A-1044-2702F726A0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EA42816-6DCD-A584-40DA-CCA7AE242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1ABB83D-35F0-72CB-A69D-24C884CE6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D42AA3F-031B-9E70-F764-5EB4724ACBC7}"/>
              </a:ext>
            </a:extLst>
          </p:cNvPr>
          <p:cNvSpPr txBox="1"/>
          <p:nvPr/>
        </p:nvSpPr>
        <p:spPr>
          <a:xfrm>
            <a:off x="2100943" y="49856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9192340-C298-87A3-99E7-9EF29A6AF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087" y="1513897"/>
            <a:ext cx="7185826" cy="1729921"/>
          </a:xfrm>
          <a:prstGeom prst="rect">
            <a:avLst/>
          </a:prstGeom>
        </p:spPr>
      </p:pic>
      <p:sp>
        <p:nvSpPr>
          <p:cNvPr id="13" name="Inhaltsplatzhalter 22">
            <a:extLst>
              <a:ext uri="{FF2B5EF4-FFF2-40B4-BE49-F238E27FC236}">
                <a16:creationId xmlns:a16="http://schemas.microsoft.com/office/drawing/2014/main" id="{52F0C59B-EBEA-8D5D-C67F-E9A509A62E8B}"/>
              </a:ext>
            </a:extLst>
          </p:cNvPr>
          <p:cNvSpPr txBox="1">
            <a:spLocks/>
          </p:cNvSpPr>
          <p:nvPr/>
        </p:nvSpPr>
        <p:spPr>
          <a:xfrm>
            <a:off x="1069959" y="3710661"/>
            <a:ext cx="3088384" cy="1819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Approximates with ONE maximum wavespeed</a:t>
            </a:r>
          </a:p>
          <a:p>
            <a:pPr>
              <a:buFont typeface="Symbol" pitchFamily="2" charset="2"/>
              <a:buChar char="Þ"/>
            </a:pPr>
            <a:r>
              <a:rPr lang="de-AT" sz="1800" i="1"/>
              <a:t> Very diffusive</a:t>
            </a:r>
          </a:p>
          <a:p>
            <a:pPr>
              <a:buFont typeface="Symbol" pitchFamily="2" charset="2"/>
              <a:buChar char="Þ"/>
            </a:pPr>
            <a:r>
              <a:rPr lang="de-AT" sz="1800" i="1"/>
              <a:t> Very stable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sp>
        <p:nvSpPr>
          <p:cNvPr id="15" name="Inhaltsplatzhalter 22">
            <a:extLst>
              <a:ext uri="{FF2B5EF4-FFF2-40B4-BE49-F238E27FC236}">
                <a16:creationId xmlns:a16="http://schemas.microsoft.com/office/drawing/2014/main" id="{9065B48A-E4F6-F950-79D1-1D61997DF23C}"/>
              </a:ext>
            </a:extLst>
          </p:cNvPr>
          <p:cNvSpPr txBox="1">
            <a:spLocks/>
          </p:cNvSpPr>
          <p:nvPr/>
        </p:nvSpPr>
        <p:spPr>
          <a:xfrm>
            <a:off x="4551808" y="3719297"/>
            <a:ext cx="3088384" cy="1819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Differentiates between TWO wavespeeds</a:t>
            </a:r>
          </a:p>
          <a:p>
            <a:pPr>
              <a:buFont typeface="Symbol" pitchFamily="2" charset="2"/>
              <a:buChar char="Þ"/>
            </a:pPr>
            <a:r>
              <a:rPr lang="de-AT" sz="1800" i="1"/>
              <a:t> Less diffusive</a:t>
            </a:r>
          </a:p>
          <a:p>
            <a:pPr>
              <a:buFont typeface="Symbol" pitchFamily="2" charset="2"/>
              <a:buChar char="Þ"/>
            </a:pPr>
            <a:r>
              <a:rPr lang="de-AT" sz="1800" i="1"/>
              <a:t> Still Very stable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sp>
        <p:nvSpPr>
          <p:cNvPr id="16" name="Inhaltsplatzhalter 22">
            <a:extLst>
              <a:ext uri="{FF2B5EF4-FFF2-40B4-BE49-F238E27FC236}">
                <a16:creationId xmlns:a16="http://schemas.microsoft.com/office/drawing/2014/main" id="{F81B58B1-90B5-4712-DA75-9F8BDC2AA5F1}"/>
              </a:ext>
            </a:extLst>
          </p:cNvPr>
          <p:cNvSpPr txBox="1">
            <a:spLocks/>
          </p:cNvSpPr>
          <p:nvPr/>
        </p:nvSpPr>
        <p:spPr>
          <a:xfrm>
            <a:off x="8336208" y="3719297"/>
            <a:ext cx="3088384" cy="2157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/>
              <a:t>Creates characteristic waves with Eigenvalues und -vectors</a:t>
            </a:r>
          </a:p>
          <a:p>
            <a:pPr>
              <a:buFont typeface="Symbol" pitchFamily="2" charset="2"/>
              <a:buChar char="Þ"/>
            </a:pPr>
            <a:r>
              <a:rPr lang="de-AT" sz="1800" i="1"/>
              <a:t> Most accurate</a:t>
            </a:r>
          </a:p>
          <a:p>
            <a:pPr>
              <a:buFont typeface="Symbol" pitchFamily="2" charset="2"/>
              <a:buChar char="Þ"/>
            </a:pPr>
            <a:r>
              <a:rPr lang="de-AT" sz="1800" i="1"/>
              <a:t> Less Stable</a:t>
            </a:r>
          </a:p>
          <a:p>
            <a:pPr>
              <a:buFont typeface="Symbol" pitchFamily="2" charset="2"/>
              <a:buChar char="Þ"/>
            </a:pPr>
            <a:r>
              <a:rPr lang="de-AT" sz="1800" i="1"/>
              <a:t> Negative water heights</a:t>
            </a:r>
          </a:p>
          <a:p>
            <a:pPr>
              <a:buFont typeface="Symbol" pitchFamily="2" charset="2"/>
              <a:buChar char="Þ"/>
            </a:pPr>
            <a:r>
              <a:rPr lang="de-AT" sz="1800" i="1"/>
              <a:t> Entropy fix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</p:spTree>
    <p:extLst>
      <p:ext uri="{BB962C8B-B14F-4D97-AF65-F5344CB8AC3E}">
        <p14:creationId xmlns:p14="http://schemas.microsoft.com/office/powerpoint/2010/main" val="6314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E4ED4-75AA-9D70-3906-DC99EA163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0A22BE6D-5B5B-5422-8512-2E64A2091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Homogenous PDE :					</a:t>
            </a:r>
          </a:p>
          <a:p>
            <a:pPr marL="0" indent="0">
              <a:buNone/>
            </a:pPr>
            <a:r>
              <a:rPr lang="de-AT" b="1" i="1"/>
              <a:t>				</a:t>
            </a:r>
            <a:endParaRPr lang="de-AT" i="1"/>
          </a:p>
          <a:p>
            <a:pPr marL="0" indent="0">
              <a:buNone/>
            </a:pPr>
            <a:r>
              <a:rPr lang="de-AT" i="1"/>
              <a:t>Reconstruction -&gt; Fluxes -&gt; Finite Volume Operator			           </a:t>
            </a:r>
            <a:r>
              <a:rPr lang="de-AT" b="1" i="1"/>
              <a:t>				      		</a:t>
            </a:r>
          </a:p>
          <a:p>
            <a:pPr marL="0" indent="0">
              <a:buNone/>
            </a:pP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22F9CD28-0373-2077-4598-6515C2789B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Space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17D1641-FFCA-55C5-A13F-C24E09DC86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ADF16F2-DC8F-6E9A-DA77-54A87E244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0B8423-9745-0A4F-0C0F-5D1634373B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9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99A8492-92E4-ABFD-46A0-271D4EB13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188" y="2552371"/>
            <a:ext cx="7471227" cy="103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3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F496D-0BA0-E958-6FDD-ECE20C02F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F01DA27C-F0DC-7100-B606-ABE0FA5298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b="1" i="1"/>
                  <a:t>Final PDE WITH bathymetry:					</a:t>
                </a:r>
              </a:p>
              <a:p>
                <a:pPr marL="0" indent="0">
                  <a:buNone/>
                </a:pPr>
                <a:r>
                  <a:rPr lang="de-AT" b="1" i="1"/>
                  <a:t>				</a:t>
                </a:r>
                <a:endParaRPr lang="de-AT" i="1"/>
              </a:p>
              <a:p>
                <a:pPr marL="0" indent="0">
                  <a:buNone/>
                </a:pPr>
                <a:r>
                  <a:rPr lang="de-AT" sz="1800" i="1"/>
                  <a:t>Additionally:</a:t>
                </a:r>
              </a:p>
              <a:p>
                <a:pPr marL="0" indent="0">
                  <a:buNone/>
                </a:pPr>
                <a:r>
                  <a:rPr lang="de-AT" sz="1800" i="1"/>
                  <a:t>- Reconstruction of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sz="1800" i="1">
                        <a:latin typeface="Cambria Math" panose="02040503050406030204" pitchFamily="18" charset="0"/>
                      </a:rPr>
                      <m:t>η</m:t>
                    </m:r>
                    <m:r>
                      <a:rPr lang="de-AT" sz="1800" i="1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de-AT" sz="18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de-AT" sz="1800" i="1">
                        <a:latin typeface="Cambria Math" panose="02040503050406030204" pitchFamily="18" charset="0"/>
                      </a:rPr>
                      <m:t> + </m:t>
                    </m:r>
                    <m:r>
                      <m:rPr>
                        <m:sty m:val="p"/>
                      </m:rPr>
                      <a:rPr lang="de-AT" sz="18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de-AT" sz="1800" i="1"/>
              </a:p>
              <a:p>
                <a:pPr marL="0" indent="0">
                  <a:buNone/>
                </a:pPr>
                <a:r>
                  <a:rPr lang="de-AT" sz="1800" i="1"/>
                  <a:t>- Reconstruction of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sz="18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de-AT" sz="1800" i="1"/>
              </a:p>
              <a:p>
                <a:pPr marL="0" indent="0">
                  <a:buNone/>
                </a:pPr>
                <a:r>
                  <a:rPr lang="de-AT" sz="1800" i="1"/>
                  <a:t>- Well balanced source treatment</a:t>
                </a:r>
              </a:p>
              <a:p>
                <a:pPr lvl="1">
                  <a:buFontTx/>
                  <a:buChar char="-"/>
                </a:pPr>
                <a:r>
                  <a:rPr lang="de-AT" sz="1800" i="1"/>
                  <a:t>correct reconstruction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sz="180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de-AT" sz="1800" i="1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AT" sz="18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de-AT" sz="1800" i="1"/>
              </a:p>
              <a:p>
                <a:pPr lvl="1">
                  <a:buFontTx/>
                  <a:buChar char="-"/>
                </a:pPr>
                <a:r>
                  <a:rPr lang="de-AT" sz="1800" i="1"/>
                  <a:t>hydrostatic pressure correction</a:t>
                </a:r>
              </a:p>
              <a:p>
                <a:pPr marL="0" indent="0">
                  <a:buNone/>
                </a:pPr>
                <a:endParaRPr lang="de-AT" sz="1400" b="1" i="1"/>
              </a:p>
              <a:p>
                <a:pPr marL="0" indent="0">
                  <a:buNone/>
                </a:pPr>
                <a:r>
                  <a:rPr lang="de-AT" i="1"/>
                  <a:t>			           </a:t>
                </a:r>
                <a:r>
                  <a:rPr lang="de-AT" b="1" i="1"/>
                  <a:t>				      		</a:t>
                </a:r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  <a:p>
                <a:pPr marL="0" indent="0">
                  <a:buNone/>
                </a:pPr>
                <a:endParaRPr lang="de-AT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F01DA27C-F0DC-7100-B606-ABE0FA5298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7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D731A32D-D6FB-696E-ADF6-B14C9E9091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Space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00D3075-1AE1-0A80-0985-63BF0AB67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460035E-2BB4-C55B-AB63-AB02D1BD96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25F5E5-3DD8-BA26-BD75-C326CB464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1B9130B-4F07-08A5-BD25-BCF68A38D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158" y="2601553"/>
            <a:ext cx="2964893" cy="2021518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AE0AF22-B48F-7578-0863-B1F89030EA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835" y="1650533"/>
            <a:ext cx="4665130" cy="63137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E6AD1E99-0E8B-7506-0A7B-C03CD3E3C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7759" y="2866336"/>
            <a:ext cx="2706007" cy="1280950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AA21DA1B-ED3C-0BF5-A492-0B605E139B20}"/>
              </a:ext>
            </a:extLst>
          </p:cNvPr>
          <p:cNvSpPr/>
          <p:nvPr/>
        </p:nvSpPr>
        <p:spPr>
          <a:xfrm>
            <a:off x="5823857" y="1645016"/>
            <a:ext cx="4539343" cy="6653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Inhaltsplatzhalter 22">
            <a:extLst>
              <a:ext uri="{FF2B5EF4-FFF2-40B4-BE49-F238E27FC236}">
                <a16:creationId xmlns:a16="http://schemas.microsoft.com/office/drawing/2014/main" id="{6366E5A5-EDDC-DA56-1B1B-C378E079F785}"/>
              </a:ext>
            </a:extLst>
          </p:cNvPr>
          <p:cNvSpPr txBox="1">
            <a:spLocks/>
          </p:cNvSpPr>
          <p:nvPr/>
        </p:nvSpPr>
        <p:spPr>
          <a:xfrm>
            <a:off x="9103616" y="1612692"/>
            <a:ext cx="3088384" cy="4290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de-AT" sz="1800" i="1"/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9C846CF0-29AC-1C70-DC9D-A903E792D6B1}"/>
              </a:ext>
            </a:extLst>
          </p:cNvPr>
          <p:cNvCxnSpPr>
            <a:cxnSpLocks/>
          </p:cNvCxnSpPr>
          <p:nvPr/>
        </p:nvCxnSpPr>
        <p:spPr>
          <a:xfrm>
            <a:off x="754855" y="5891134"/>
            <a:ext cx="449842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750B06ED-BD37-B542-0AF1-E34DFA29F69E}"/>
              </a:ext>
            </a:extLst>
          </p:cNvPr>
          <p:cNvCxnSpPr>
            <a:cxnSpLocks/>
          </p:cNvCxnSpPr>
          <p:nvPr/>
        </p:nvCxnSpPr>
        <p:spPr>
          <a:xfrm flipV="1">
            <a:off x="754855" y="4219989"/>
            <a:ext cx="0" cy="16711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FA2C3D8-FA8A-3053-F663-97EE7C7701BE}"/>
                  </a:ext>
                </a:extLst>
              </p:cNvPr>
              <p:cNvSpPr txBox="1"/>
              <p:nvPr/>
            </p:nvSpPr>
            <p:spPr>
              <a:xfrm>
                <a:off x="5010083" y="5891134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BFA2C3D8-FA8A-3053-F663-97EE7C770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083" y="5891134"/>
                <a:ext cx="181075" cy="276999"/>
              </a:xfrm>
              <a:prstGeom prst="rect">
                <a:avLst/>
              </a:prstGeom>
              <a:blipFill>
                <a:blip r:embed="rId7"/>
                <a:stretch>
                  <a:fillRect l="-6667" r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6A90942-FBA2-9FE6-EE3A-2EB85DE0F1A0}"/>
                  </a:ext>
                </a:extLst>
              </p:cNvPr>
              <p:cNvSpPr txBox="1"/>
              <p:nvPr/>
            </p:nvSpPr>
            <p:spPr>
              <a:xfrm>
                <a:off x="2145501" y="5032458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66A90942-FBA2-9FE6-EE3A-2EB85DE0F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501" y="5032458"/>
                <a:ext cx="227948" cy="276999"/>
              </a:xfrm>
              <a:prstGeom prst="rect">
                <a:avLst/>
              </a:prstGeom>
              <a:blipFill>
                <a:blip r:embed="rId8"/>
                <a:stretch>
                  <a:fillRect l="-10526" r="-15789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2FB60963-4E6D-BA0E-391B-8CB069FEF9CF}"/>
              </a:ext>
            </a:extLst>
          </p:cNvPr>
          <p:cNvCxnSpPr>
            <a:cxnSpLocks/>
          </p:cNvCxnSpPr>
          <p:nvPr/>
        </p:nvCxnSpPr>
        <p:spPr>
          <a:xfrm>
            <a:off x="2382963" y="4661205"/>
            <a:ext cx="0" cy="1019506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reihandform 16">
            <a:extLst>
              <a:ext uri="{FF2B5EF4-FFF2-40B4-BE49-F238E27FC236}">
                <a16:creationId xmlns:a16="http://schemas.microsoft.com/office/drawing/2014/main" id="{6205A53F-9E6D-DC0D-A92E-5A08C4B7BDA8}"/>
              </a:ext>
            </a:extLst>
          </p:cNvPr>
          <p:cNvSpPr/>
          <p:nvPr/>
        </p:nvSpPr>
        <p:spPr>
          <a:xfrm>
            <a:off x="764370" y="4523967"/>
            <a:ext cx="4225159" cy="358557"/>
          </a:xfrm>
          <a:custGeom>
            <a:avLst/>
            <a:gdLst>
              <a:gd name="csX0" fmla="*/ 0 w 4225159"/>
              <a:gd name="csY0" fmla="*/ 337153 h 358557"/>
              <a:gd name="csX1" fmla="*/ 430924 w 4225159"/>
              <a:gd name="csY1" fmla="*/ 274091 h 358557"/>
              <a:gd name="csX2" fmla="*/ 893379 w 4225159"/>
              <a:gd name="csY2" fmla="*/ 822 h 358557"/>
              <a:gd name="csX3" fmla="*/ 1408386 w 4225159"/>
              <a:gd name="csY3" fmla="*/ 221539 h 358557"/>
              <a:gd name="csX4" fmla="*/ 1891862 w 4225159"/>
              <a:gd name="csY4" fmla="*/ 11332 h 358557"/>
              <a:gd name="csX5" fmla="*/ 2385848 w 4225159"/>
              <a:gd name="csY5" fmla="*/ 253070 h 358557"/>
              <a:gd name="csX6" fmla="*/ 2900855 w 4225159"/>
              <a:gd name="csY6" fmla="*/ 822 h 358557"/>
              <a:gd name="csX7" fmla="*/ 3331779 w 4225159"/>
              <a:gd name="csY7" fmla="*/ 358174 h 358557"/>
              <a:gd name="csX8" fmla="*/ 3731173 w 4225159"/>
              <a:gd name="csY8" fmla="*/ 74394 h 358557"/>
              <a:gd name="csX9" fmla="*/ 4225159 w 4225159"/>
              <a:gd name="csY9" fmla="*/ 295112 h 358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5159" h="358557">
                <a:moveTo>
                  <a:pt x="0" y="337153"/>
                </a:moveTo>
                <a:cubicBezTo>
                  <a:pt x="141014" y="333649"/>
                  <a:pt x="282028" y="330146"/>
                  <a:pt x="430924" y="274091"/>
                </a:cubicBezTo>
                <a:cubicBezTo>
                  <a:pt x="579821" y="218036"/>
                  <a:pt x="730469" y="9581"/>
                  <a:pt x="893379" y="822"/>
                </a:cubicBezTo>
                <a:cubicBezTo>
                  <a:pt x="1056289" y="-7937"/>
                  <a:pt x="1241972" y="219787"/>
                  <a:pt x="1408386" y="221539"/>
                </a:cubicBezTo>
                <a:cubicBezTo>
                  <a:pt x="1574800" y="223291"/>
                  <a:pt x="1728952" y="6077"/>
                  <a:pt x="1891862" y="11332"/>
                </a:cubicBezTo>
                <a:cubicBezTo>
                  <a:pt x="2054772" y="16587"/>
                  <a:pt x="2217683" y="254822"/>
                  <a:pt x="2385848" y="253070"/>
                </a:cubicBezTo>
                <a:cubicBezTo>
                  <a:pt x="2554013" y="251318"/>
                  <a:pt x="2743200" y="-16695"/>
                  <a:pt x="2900855" y="822"/>
                </a:cubicBezTo>
                <a:cubicBezTo>
                  <a:pt x="3058510" y="18339"/>
                  <a:pt x="3193393" y="345912"/>
                  <a:pt x="3331779" y="358174"/>
                </a:cubicBezTo>
                <a:cubicBezTo>
                  <a:pt x="3470165" y="370436"/>
                  <a:pt x="3582276" y="84904"/>
                  <a:pt x="3731173" y="74394"/>
                </a:cubicBezTo>
                <a:cubicBezTo>
                  <a:pt x="3880070" y="63884"/>
                  <a:pt x="4052614" y="179498"/>
                  <a:pt x="4225159" y="295112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Freihandform 17">
            <a:extLst>
              <a:ext uri="{FF2B5EF4-FFF2-40B4-BE49-F238E27FC236}">
                <a16:creationId xmlns:a16="http://schemas.microsoft.com/office/drawing/2014/main" id="{99CFBE73-75AD-681B-EBFB-B49A57D0A6BB}"/>
              </a:ext>
            </a:extLst>
          </p:cNvPr>
          <p:cNvSpPr/>
          <p:nvPr/>
        </p:nvSpPr>
        <p:spPr>
          <a:xfrm>
            <a:off x="1531624" y="5533230"/>
            <a:ext cx="3436883" cy="368694"/>
          </a:xfrm>
          <a:custGeom>
            <a:avLst/>
            <a:gdLst>
              <a:gd name="csX0" fmla="*/ 0 w 3436883"/>
              <a:gd name="csY0" fmla="*/ 347674 h 368694"/>
              <a:gd name="csX1" fmla="*/ 483476 w 3436883"/>
              <a:gd name="csY1" fmla="*/ 316143 h 368694"/>
              <a:gd name="csX2" fmla="*/ 872359 w 3436883"/>
              <a:gd name="csY2" fmla="*/ 116446 h 368694"/>
              <a:gd name="csX3" fmla="*/ 1303283 w 3436883"/>
              <a:gd name="csY3" fmla="*/ 832 h 368694"/>
              <a:gd name="csX4" fmla="*/ 1713186 w 3436883"/>
              <a:gd name="csY4" fmla="*/ 63894 h 368694"/>
              <a:gd name="csX5" fmla="*/ 2049517 w 3436883"/>
              <a:gd name="csY5" fmla="*/ 53384 h 368694"/>
              <a:gd name="csX6" fmla="*/ 2259724 w 3436883"/>
              <a:gd name="csY6" fmla="*/ 11343 h 368694"/>
              <a:gd name="csX7" fmla="*/ 2564524 w 3436883"/>
              <a:gd name="csY7" fmla="*/ 116446 h 368694"/>
              <a:gd name="csX8" fmla="*/ 2816772 w 3436883"/>
              <a:gd name="csY8" fmla="*/ 221550 h 368694"/>
              <a:gd name="csX9" fmla="*/ 3153103 w 3436883"/>
              <a:gd name="csY9" fmla="*/ 316143 h 368694"/>
              <a:gd name="csX10" fmla="*/ 3436883 w 3436883"/>
              <a:gd name="csY10" fmla="*/ 368694 h 368694"/>
              <a:gd name="csX11" fmla="*/ 3436883 w 3436883"/>
              <a:gd name="csY11" fmla="*/ 368694 h 368694"/>
              <a:gd name="csX12" fmla="*/ 3436883 w 3436883"/>
              <a:gd name="csY12" fmla="*/ 368694 h 368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36883" h="368694">
                <a:moveTo>
                  <a:pt x="0" y="347674"/>
                </a:moveTo>
                <a:cubicBezTo>
                  <a:pt x="169041" y="351177"/>
                  <a:pt x="338083" y="354681"/>
                  <a:pt x="483476" y="316143"/>
                </a:cubicBezTo>
                <a:cubicBezTo>
                  <a:pt x="628869" y="277605"/>
                  <a:pt x="735725" y="168998"/>
                  <a:pt x="872359" y="116446"/>
                </a:cubicBezTo>
                <a:cubicBezTo>
                  <a:pt x="1008994" y="63894"/>
                  <a:pt x="1163145" y="9591"/>
                  <a:pt x="1303283" y="832"/>
                </a:cubicBezTo>
                <a:cubicBezTo>
                  <a:pt x="1443421" y="-7927"/>
                  <a:pt x="1588814" y="55135"/>
                  <a:pt x="1713186" y="63894"/>
                </a:cubicBezTo>
                <a:cubicBezTo>
                  <a:pt x="1837558" y="72653"/>
                  <a:pt x="1958427" y="62143"/>
                  <a:pt x="2049517" y="53384"/>
                </a:cubicBezTo>
                <a:cubicBezTo>
                  <a:pt x="2140607" y="44625"/>
                  <a:pt x="2173890" y="833"/>
                  <a:pt x="2259724" y="11343"/>
                </a:cubicBezTo>
                <a:cubicBezTo>
                  <a:pt x="2345559" y="21853"/>
                  <a:pt x="2471683" y="81412"/>
                  <a:pt x="2564524" y="116446"/>
                </a:cubicBezTo>
                <a:cubicBezTo>
                  <a:pt x="2657365" y="151480"/>
                  <a:pt x="2718676" y="188267"/>
                  <a:pt x="2816772" y="221550"/>
                </a:cubicBezTo>
                <a:cubicBezTo>
                  <a:pt x="2914868" y="254833"/>
                  <a:pt x="3049751" y="291619"/>
                  <a:pt x="3153103" y="316143"/>
                </a:cubicBezTo>
                <a:cubicBezTo>
                  <a:pt x="3256455" y="340667"/>
                  <a:pt x="3436883" y="368694"/>
                  <a:pt x="3436883" y="368694"/>
                </a:cubicBezTo>
                <a:lnTo>
                  <a:pt x="3436883" y="368694"/>
                </a:lnTo>
                <a:lnTo>
                  <a:pt x="3436883" y="368694"/>
                </a:ln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DB1FC9A2-14F9-65FF-E867-A2BDCB1C8961}"/>
              </a:ext>
            </a:extLst>
          </p:cNvPr>
          <p:cNvCxnSpPr>
            <a:cxnSpLocks/>
          </p:cNvCxnSpPr>
          <p:nvPr/>
        </p:nvCxnSpPr>
        <p:spPr>
          <a:xfrm>
            <a:off x="2813886" y="5512329"/>
            <a:ext cx="0" cy="378805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072A3AE1-AB12-1B1D-9115-CF62A459048D}"/>
                  </a:ext>
                </a:extLst>
              </p:cNvPr>
              <p:cNvSpPr txBox="1"/>
              <p:nvPr/>
            </p:nvSpPr>
            <p:spPr>
              <a:xfrm>
                <a:off x="2870711" y="5584251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072A3AE1-AB12-1B1D-9115-CF62A4590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0711" y="5584251"/>
                <a:ext cx="227948" cy="276999"/>
              </a:xfrm>
              <a:prstGeom prst="rect">
                <a:avLst/>
              </a:prstGeom>
              <a:blipFill>
                <a:blip r:embed="rId9"/>
                <a:stretch>
                  <a:fillRect l="-16667" r="-16667" b="-86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DA4AFC1F-1E56-7980-DE23-7DC67063E107}"/>
                  </a:ext>
                </a:extLst>
              </p:cNvPr>
              <p:cNvSpPr txBox="1"/>
              <p:nvPr/>
            </p:nvSpPr>
            <p:spPr>
              <a:xfrm>
                <a:off x="499508" y="4081489"/>
                <a:ext cx="181075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DA4AFC1F-1E56-7980-DE23-7DC67063E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508" y="4081489"/>
                <a:ext cx="181075" cy="276999"/>
              </a:xfrm>
              <a:prstGeom prst="rect">
                <a:avLst/>
              </a:prstGeom>
              <a:blipFill>
                <a:blip r:embed="rId10"/>
                <a:stretch>
                  <a:fillRect l="-13333" r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49F58BB-8249-71BD-4886-10C01618DA92}"/>
                  </a:ext>
                </a:extLst>
              </p:cNvPr>
              <p:cNvSpPr txBox="1"/>
              <p:nvPr/>
            </p:nvSpPr>
            <p:spPr>
              <a:xfrm>
                <a:off x="3437278" y="5257091"/>
                <a:ext cx="22794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AT" b="0" i="1">
                          <a:latin typeface="Cambria Math" panose="02040503050406030204" pitchFamily="18" charset="0"/>
                        </a:rPr>
                        <m:t>η</m:t>
                      </m:r>
                    </m:oMath>
                  </m:oMathPara>
                </a14:m>
                <a:endParaRPr lang="de-AT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A49F58BB-8249-71BD-4886-10C01618D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278" y="5257091"/>
                <a:ext cx="227948" cy="276999"/>
              </a:xfrm>
              <a:prstGeom prst="rect">
                <a:avLst/>
              </a:prstGeom>
              <a:blipFill>
                <a:blip r:embed="rId11"/>
                <a:stretch>
                  <a:fillRect l="-15789" r="-15789" b="-2608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3C12D70A-1E3A-D99F-4C14-5A178056124E}"/>
              </a:ext>
            </a:extLst>
          </p:cNvPr>
          <p:cNvCxnSpPr>
            <a:cxnSpLocks/>
          </p:cNvCxnSpPr>
          <p:nvPr/>
        </p:nvCxnSpPr>
        <p:spPr>
          <a:xfrm>
            <a:off x="3665226" y="4523967"/>
            <a:ext cx="9514" cy="138137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9F74A772-2182-BE95-E98F-5CF6BACCE66E}"/>
              </a:ext>
            </a:extLst>
          </p:cNvPr>
          <p:cNvSpPr txBox="1"/>
          <p:nvPr/>
        </p:nvSpPr>
        <p:spPr>
          <a:xfrm>
            <a:off x="2051827" y="6152859"/>
            <a:ext cx="1068541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>
                <a:solidFill>
                  <a:schemeClr val="bg1">
                    <a:lumMod val="65000"/>
                  </a:schemeClr>
                </a:solidFill>
              </a:rPr>
              <a:t>Source: </a:t>
            </a:r>
            <a:r>
              <a:rPr lang="de-AT" sz="1050">
                <a:solidFill>
                  <a:schemeClr val="bg1">
                    <a:lumMod val="65000"/>
                  </a:schemeClr>
                </a:solidFill>
              </a:rPr>
              <a:t>Well-balanced finite volume schemes of arbitrary order of accuracy for shallow water flows, Sebastian Noelle a,, Normann Pankratz a, Gabriella Puppo b, Jostein R. Natvig</a:t>
            </a:r>
          </a:p>
          <a:p>
            <a:r>
              <a:rPr lang="de-AT" sz="1050">
                <a:solidFill>
                  <a:schemeClr val="bg1">
                    <a:lumMod val="65000"/>
                  </a:schemeClr>
                </a:solidFill>
              </a:rPr>
              <a:t>Journal of Computational Physics 2006</a:t>
            </a:r>
            <a:endParaRPr lang="de-DE" sz="105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7246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FCA87-2BFA-50DB-3697-485E7EE5C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223B9FFA-8655-7A73-15C5-5A447BEA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sz="1800" b="1" i="1"/>
              <a:t>SSP-RK3:	 </a:t>
            </a:r>
            <a:r>
              <a:rPr lang="de-AT" sz="1800" i="1"/>
              <a:t>Strong Stability Preserving Runge Kutta 3</a:t>
            </a:r>
            <a:r>
              <a:rPr lang="de-AT" sz="1800" b="1" i="1"/>
              <a:t>		</a:t>
            </a:r>
          </a:p>
          <a:p>
            <a:pPr marL="0" indent="0">
              <a:buNone/>
            </a:pPr>
            <a:endParaRPr lang="de-AT" sz="1800" b="1" i="1"/>
          </a:p>
          <a:p>
            <a:pPr>
              <a:buFontTx/>
              <a:buChar char="-"/>
            </a:pPr>
            <a:r>
              <a:rPr lang="de-AT" sz="1800"/>
              <a:t>Preserves nonlinear stability properties</a:t>
            </a:r>
          </a:p>
          <a:p>
            <a:pPr>
              <a:buFontTx/>
              <a:buChar char="-"/>
            </a:pPr>
            <a:r>
              <a:rPr lang="de-AT" sz="1800"/>
              <a:t>CFL condition:</a:t>
            </a:r>
          </a:p>
          <a:p>
            <a:pPr marL="0" indent="0">
              <a:buNone/>
            </a:pPr>
            <a:endParaRPr lang="de-AT" sz="1800"/>
          </a:p>
          <a:p>
            <a:pPr marL="0" indent="0">
              <a:buNone/>
            </a:pPr>
            <a:r>
              <a:rPr lang="de-AT" sz="1800" b="1" i="1"/>
              <a:t>		</a:t>
            </a:r>
          </a:p>
          <a:p>
            <a:pPr marL="0" indent="0">
              <a:buNone/>
            </a:pPr>
            <a:r>
              <a:rPr lang="de-AT" sz="1800" b="1" i="1"/>
              <a:t>				</a:t>
            </a:r>
            <a:endParaRPr lang="de-AT" sz="1600" b="1" i="1"/>
          </a:p>
          <a:p>
            <a:pPr marL="0" indent="0">
              <a:buNone/>
            </a:pPr>
            <a:r>
              <a:rPr lang="de-AT" sz="1800" i="1"/>
              <a:t>			           </a:t>
            </a:r>
            <a:r>
              <a:rPr lang="de-AT" sz="1800" b="1" i="1"/>
              <a:t>				      		</a:t>
            </a:r>
          </a:p>
          <a:p>
            <a:pPr marL="0" indent="0">
              <a:buNone/>
            </a:pPr>
            <a:endParaRPr lang="de-AT" sz="1800" b="1" i="1"/>
          </a:p>
          <a:p>
            <a:pPr marL="0" indent="0">
              <a:buNone/>
            </a:pPr>
            <a:endParaRPr lang="de-AT" sz="1800" b="1" i="1"/>
          </a:p>
          <a:p>
            <a:pPr marL="0" indent="0">
              <a:buNone/>
            </a:pPr>
            <a:endParaRPr lang="de-AT" sz="1800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7E6FC08B-E1E9-A5F5-B180-1A8610EE01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Time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62CD119-2BB7-4F02-3724-0459D8759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84CD23B-2F98-0AD0-61AF-1264EECFA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A4A795-6DF5-1EEE-1297-8DF374DAB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Inhaltsplatzhalter 22">
            <a:extLst>
              <a:ext uri="{FF2B5EF4-FFF2-40B4-BE49-F238E27FC236}">
                <a16:creationId xmlns:a16="http://schemas.microsoft.com/office/drawing/2014/main" id="{D03E3AE0-48FE-45EA-9AB6-1575BD9B242C}"/>
              </a:ext>
            </a:extLst>
          </p:cNvPr>
          <p:cNvSpPr txBox="1">
            <a:spLocks/>
          </p:cNvSpPr>
          <p:nvPr/>
        </p:nvSpPr>
        <p:spPr>
          <a:xfrm>
            <a:off x="9103616" y="1612692"/>
            <a:ext cx="3088384" cy="4290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endParaRPr lang="de-AT" sz="1800" i="1"/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DB7C327-C0DF-09BE-1463-8AFA46243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630" y="1895071"/>
            <a:ext cx="2959100" cy="5588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F46AB25-FD2D-DC5C-A81D-62ED7B06E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0182" y="3515079"/>
            <a:ext cx="4927600" cy="965200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DDFAC05C-5723-EA5F-D10E-4E749A861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182" y="2603500"/>
            <a:ext cx="4699000" cy="8255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8405909-7027-AE1A-7B0B-F5AB77851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082" y="3206338"/>
            <a:ext cx="5118100" cy="130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00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8665-791E-F61C-83C8-525E8D55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7E070661-4EC6-CE7D-0F1C-3F44947F42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Problems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4D6FA751-E3D7-27FD-6FD8-F3BE8C226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7502944-5D29-7546-EC16-97973D128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654B01-5C73-9626-3CB8-27C735A67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20" name="Inhaltsplatzhalter 22">
            <a:extLst>
              <a:ext uri="{FF2B5EF4-FFF2-40B4-BE49-F238E27FC236}">
                <a16:creationId xmlns:a16="http://schemas.microsoft.com/office/drawing/2014/main" id="{0B498AD7-049D-0D34-A17F-F149564616B8}"/>
              </a:ext>
            </a:extLst>
          </p:cNvPr>
          <p:cNvSpPr txBox="1">
            <a:spLocks/>
          </p:cNvSpPr>
          <p:nvPr/>
        </p:nvSpPr>
        <p:spPr>
          <a:xfrm>
            <a:off x="2686840" y="4356634"/>
            <a:ext cx="5734974" cy="477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1800" b="1" i="1"/>
              <a:t>=&gt; </a:t>
            </a:r>
            <a:r>
              <a:rPr lang="de-AT" sz="1800" i="1"/>
              <a:t>Optimized Solvers will only implement </a:t>
            </a:r>
            <a:r>
              <a:rPr lang="de-AT" sz="1800" b="1" i="1"/>
              <a:t>HLL + MUSCL</a:t>
            </a:r>
            <a:endParaRPr lang="de-AT" sz="1800"/>
          </a:p>
        </p:txBody>
      </p:sp>
      <p:graphicFrame>
        <p:nvGraphicFramePr>
          <p:cNvPr id="24" name="Tabelle 23">
            <a:extLst>
              <a:ext uri="{FF2B5EF4-FFF2-40B4-BE49-F238E27FC236}">
                <a16:creationId xmlns:a16="http://schemas.microsoft.com/office/drawing/2014/main" id="{EC0D5889-D495-94E7-B1EA-257B715BD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54932"/>
              </p:ext>
            </p:extLst>
          </p:nvPr>
        </p:nvGraphicFramePr>
        <p:xfrm>
          <a:off x="1580054" y="202730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94614129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00208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773042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38241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tx1"/>
                          </a:solidFill>
                        </a:rPr>
                        <a:t>Diffuse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de-DE">
                        <a:solidFill>
                          <a:schemeClr val="tx1"/>
                        </a:solidFill>
                      </a:endParaRPr>
                    </a:p>
                  </a:txBody>
                  <a:tcPr>
                    <a:gradFill flip="none" rotWithShape="1">
                      <a:gsLst>
                        <a:gs pos="100000">
                          <a:srgbClr val="00B050">
                            <a:alpha val="12711"/>
                          </a:srgbClr>
                        </a:gs>
                        <a:gs pos="50000">
                          <a:schemeClr val="bg1">
                            <a:lumMod val="85000"/>
                            <a:alpha val="61276"/>
                          </a:schemeClr>
                        </a:gs>
                        <a:gs pos="0">
                          <a:srgbClr val="7030A0">
                            <a:alpha val="13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de-DE">
                          <a:solidFill>
                            <a:schemeClr val="tx1"/>
                          </a:solidFill>
                        </a:rPr>
                        <a:t>Unstable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858833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>
                          <a:solidFill>
                            <a:schemeClr val="tx1"/>
                          </a:solidFill>
                        </a:rPr>
                        <a:t>Riemann Solver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Rusanov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HLL</a:t>
                      </a:r>
                    </a:p>
                  </a:txBody>
                  <a:tcPr>
                    <a:gradFill flip="none" rotWithShape="1">
                      <a:gsLst>
                        <a:gs pos="100000">
                          <a:srgbClr val="00B050">
                            <a:alpha val="12711"/>
                          </a:srgbClr>
                        </a:gs>
                        <a:gs pos="50000">
                          <a:schemeClr val="bg1">
                            <a:lumMod val="85000"/>
                            <a:alpha val="61276"/>
                          </a:schemeClr>
                        </a:gs>
                        <a:gs pos="0">
                          <a:srgbClr val="7030A0">
                            <a:alpha val="13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ROE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786139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>
                          <a:solidFill>
                            <a:schemeClr val="tx1"/>
                          </a:solidFill>
                        </a:rPr>
                        <a:t>Reconstruction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/>
                        <a:t>Piecewise Constant</a:t>
                      </a:r>
                    </a:p>
                  </a:txBody>
                  <a:tcPr>
                    <a:gradFill flip="none" rotWithShape="1">
                      <a:gsLst>
                        <a:gs pos="0">
                          <a:srgbClr val="00B050">
                            <a:tint val="66000"/>
                            <a:satMod val="160000"/>
                          </a:srgbClr>
                        </a:gs>
                        <a:gs pos="50000">
                          <a:srgbClr val="00B050">
                            <a:tint val="44500"/>
                            <a:satMod val="160000"/>
                          </a:srgbClr>
                        </a:gs>
                        <a:gs pos="100000">
                          <a:srgbClr val="00B050">
                            <a:tint val="23500"/>
                            <a:satMod val="160000"/>
                          </a:srgbClr>
                        </a:gs>
                      </a:gsLst>
                      <a:lin ang="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/>
                        <a:t>MUSCL</a:t>
                      </a:r>
                    </a:p>
                  </a:txBody>
                  <a:tcPr>
                    <a:gradFill flip="none" rotWithShape="1">
                      <a:gsLst>
                        <a:gs pos="100000">
                          <a:srgbClr val="00B050">
                            <a:alpha val="12711"/>
                          </a:srgbClr>
                        </a:gs>
                        <a:gs pos="50000">
                          <a:schemeClr val="bg1">
                            <a:lumMod val="85000"/>
                            <a:alpha val="61276"/>
                          </a:schemeClr>
                        </a:gs>
                        <a:gs pos="0">
                          <a:srgbClr val="7030A0">
                            <a:alpha val="13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gradFill flip="none" rotWithShape="1">
                      <a:gsLst>
                        <a:gs pos="0">
                          <a:srgbClr val="7030A0">
                            <a:tint val="66000"/>
                            <a:satMod val="160000"/>
                          </a:srgbClr>
                        </a:gs>
                        <a:gs pos="50000">
                          <a:srgbClr val="7030A0">
                            <a:tint val="44500"/>
                            <a:satMod val="160000"/>
                          </a:srgbClr>
                        </a:gs>
                        <a:gs pos="100000">
                          <a:srgbClr val="7030A0">
                            <a:tint val="23500"/>
                            <a:satMod val="160000"/>
                          </a:srgbClr>
                        </a:gs>
                      </a:gsLst>
                      <a:lin ang="108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99149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320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704BA-C899-1AB6-A427-ABF9FB31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BE3765DE-0DF9-2091-3911-ACD0B8191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7408" y="1130142"/>
                <a:ext cx="4140857" cy="47467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AT" sz="1800" b="1" i="1"/>
                  <a:t>MUSCL Bottom Reconstruction:	 </a:t>
                </a:r>
              </a:p>
              <a:p>
                <a:pPr marL="0" indent="0">
                  <a:buNone/>
                </a:pPr>
                <a:endParaRPr lang="de-AT" sz="1800" b="1" i="1"/>
              </a:p>
              <a:p>
                <a:pPr>
                  <a:buFontTx/>
                  <a:buChar char="-"/>
                </a:pPr>
                <a:r>
                  <a:rPr lang="de-AT" sz="1800"/>
                  <a:t>Reconstructs </a:t>
                </a:r>
                <a14:m>
                  <m:oMath xmlns:m="http://schemas.openxmlformats.org/officeDocument/2006/math">
                    <m:r>
                      <a:rPr lang="de-AT" sz="1800" b="0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AT" sz="1800" b="0" i="1">
                        <a:latin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de-AT" sz="1800"/>
                  <a:t> and b</a:t>
                </a:r>
              </a:p>
              <a:p>
                <a:pPr>
                  <a:buFontTx/>
                  <a:buChar char="-"/>
                </a:pPr>
                <a:endParaRPr lang="de-AT" sz="1800"/>
              </a:p>
              <a:p>
                <a:pPr>
                  <a:buFontTx/>
                  <a:buChar char="-"/>
                </a:pPr>
                <a:r>
                  <a:rPr lang="de-AT" sz="1800"/>
                  <a:t>Extracts</a:t>
                </a:r>
              </a:p>
              <a:p>
                <a:pPr>
                  <a:buFontTx/>
                  <a:buChar char="-"/>
                </a:pPr>
                <a:endParaRPr lang="de-AT" sz="1800"/>
              </a:p>
              <a:p>
                <a:pPr>
                  <a:buFontTx/>
                  <a:buChar char="-"/>
                </a:pPr>
                <a:r>
                  <a:rPr lang="de-AT" sz="1800"/>
                  <a:t>Although</a:t>
                </a:r>
                <a:endParaRPr lang="de-AT" sz="1800" b="1" i="1"/>
              </a:p>
              <a:p>
                <a:pPr marL="0" indent="0">
                  <a:buNone/>
                </a:pPr>
                <a:endParaRPr lang="de-AT" sz="1800" b="1" i="1"/>
              </a:p>
              <a:p>
                <a:pPr marL="0" indent="0">
                  <a:buNone/>
                </a:pPr>
                <a:endParaRPr lang="de-AT" sz="1800" b="1" i="1"/>
              </a:p>
            </p:txBody>
          </p:sp>
        </mc:Choice>
        <mc:Fallback xmlns="">
          <p:sp>
            <p:nvSpPr>
              <p:cNvPr id="23" name="Inhaltsplatzhalter 22">
                <a:extLst>
                  <a:ext uri="{FF2B5EF4-FFF2-40B4-BE49-F238E27FC236}">
                    <a16:creationId xmlns:a16="http://schemas.microsoft.com/office/drawing/2014/main" id="{BE3765DE-0DF9-2091-3911-ACD0B8191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408" y="1130142"/>
                <a:ext cx="4140857" cy="4746783"/>
              </a:xfrm>
              <a:blipFill>
                <a:blip r:embed="rId3"/>
                <a:stretch>
                  <a:fillRect l="-1223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el 21">
            <a:extLst>
              <a:ext uri="{FF2B5EF4-FFF2-40B4-BE49-F238E27FC236}">
                <a16:creationId xmlns:a16="http://schemas.microsoft.com/office/drawing/2014/main" id="{FB40CD66-1A90-0012-764E-9ED38E4ABD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Numerical Model - Problems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7681B3E-D63C-5570-5BCF-91C107D17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E3EDEFB-AD31-F301-4DF7-1980C11EA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574F5A-31A1-734F-5871-531CC44B8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7993E0B-394E-4385-2239-F700310D25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123" t="25133" b="36858"/>
          <a:stretch>
            <a:fillRect/>
          </a:stretch>
        </p:blipFill>
        <p:spPr>
          <a:xfrm>
            <a:off x="1877760" y="2629911"/>
            <a:ext cx="3898622" cy="326583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C5410B4-C0B3-06AB-D369-64C4D06607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481" r="13740"/>
          <a:stretch>
            <a:fillRect/>
          </a:stretch>
        </p:blipFill>
        <p:spPr>
          <a:xfrm>
            <a:off x="2060028" y="3226679"/>
            <a:ext cx="1208690" cy="62553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CAE5395C-25C8-7E75-B381-8A56E8632FA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019" r="13919"/>
          <a:stretch>
            <a:fillRect/>
          </a:stretch>
        </p:blipFill>
        <p:spPr>
          <a:xfrm>
            <a:off x="8118750" y="2341757"/>
            <a:ext cx="2195490" cy="66747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416AB56-3D01-AD3E-DF19-3EDDF2EB9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0571" y="3249538"/>
            <a:ext cx="1449534" cy="579814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2FF4A4E7-E753-6A5E-0A73-CCC2965FCC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2490"/>
          <a:stretch>
            <a:fillRect/>
          </a:stretch>
        </p:blipFill>
        <p:spPr>
          <a:xfrm>
            <a:off x="8151337" y="1692400"/>
            <a:ext cx="2757513" cy="608104"/>
          </a:xfrm>
          <a:prstGeom prst="rect">
            <a:avLst/>
          </a:prstGeom>
        </p:spPr>
      </p:pic>
      <p:sp>
        <p:nvSpPr>
          <p:cNvPr id="25" name="Inhaltsplatzhalter 22">
            <a:extLst>
              <a:ext uri="{FF2B5EF4-FFF2-40B4-BE49-F238E27FC236}">
                <a16:creationId xmlns:a16="http://schemas.microsoft.com/office/drawing/2014/main" id="{214E747B-387F-DB33-7E37-0A3DC6B70FDC}"/>
              </a:ext>
            </a:extLst>
          </p:cNvPr>
          <p:cNvSpPr txBox="1">
            <a:spLocks/>
          </p:cNvSpPr>
          <p:nvPr/>
        </p:nvSpPr>
        <p:spPr>
          <a:xfrm>
            <a:off x="6314910" y="1130142"/>
            <a:ext cx="4140857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endParaRPr lang="de-AT" sz="1800"/>
          </a:p>
          <a:p>
            <a:pPr>
              <a:buFontTx/>
              <a:buChar char="-"/>
            </a:pPr>
            <a:endParaRPr lang="de-AT" sz="1800"/>
          </a:p>
          <a:p>
            <a:pPr>
              <a:buFontTx/>
              <a:buChar char="-"/>
            </a:pPr>
            <a:r>
              <a:rPr lang="de-AT" sz="1800"/>
              <a:t>This might be</a:t>
            </a:r>
          </a:p>
          <a:p>
            <a:pPr>
              <a:buFontTx/>
              <a:buChar char="-"/>
            </a:pPr>
            <a:endParaRPr lang="de-AT" sz="1800"/>
          </a:p>
          <a:p>
            <a:pPr>
              <a:buFontTx/>
              <a:buChar char="-"/>
            </a:pPr>
            <a:r>
              <a:rPr lang="de-AT" sz="1800"/>
              <a:t>Riemann then</a:t>
            </a:r>
          </a:p>
          <a:p>
            <a:pPr>
              <a:buFontTx/>
              <a:buChar char="-"/>
            </a:pPr>
            <a:endParaRPr lang="de-AT" sz="1800"/>
          </a:p>
          <a:p>
            <a:pPr>
              <a:buFontTx/>
              <a:buChar char="-"/>
            </a:pPr>
            <a:r>
              <a:rPr lang="de-AT" sz="1800" i="1"/>
              <a:t>Therfore  -&gt;</a:t>
            </a:r>
          </a:p>
          <a:p>
            <a:pPr marL="0" indent="0">
              <a:buFont typeface="Wingdings" pitchFamily="2" charset="2"/>
              <a:buNone/>
            </a:pPr>
            <a:endParaRPr lang="de-AT" sz="1800" b="1" i="1"/>
          </a:p>
          <a:p>
            <a:pPr marL="0" indent="0">
              <a:buFont typeface="Wingdings" pitchFamily="2" charset="2"/>
              <a:buNone/>
            </a:pPr>
            <a:endParaRPr lang="de-AT" sz="1800" b="1" i="1"/>
          </a:p>
          <a:p>
            <a:pPr marL="0" indent="0">
              <a:buFont typeface="Wingdings" pitchFamily="2" charset="2"/>
              <a:buNone/>
            </a:pPr>
            <a:endParaRPr lang="de-AT" sz="1800" b="1" i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5153C626-B2C5-FC6B-330A-34DC9A65159E}"/>
              </a:ext>
            </a:extLst>
          </p:cNvPr>
          <p:cNvSpPr/>
          <p:nvPr/>
        </p:nvSpPr>
        <p:spPr>
          <a:xfrm>
            <a:off x="7756635" y="3268719"/>
            <a:ext cx="1342960" cy="497573"/>
          </a:xfrm>
          <a:prstGeom prst="rect">
            <a:avLst/>
          </a:prstGeom>
          <a:solidFill>
            <a:srgbClr val="FF0000">
              <a:alpha val="4645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Inhaltsplatzhalter 22">
            <a:extLst>
              <a:ext uri="{FF2B5EF4-FFF2-40B4-BE49-F238E27FC236}">
                <a16:creationId xmlns:a16="http://schemas.microsoft.com/office/drawing/2014/main" id="{DD67A26D-1C44-57EF-1717-F7C8EEB4AF1F}"/>
              </a:ext>
            </a:extLst>
          </p:cNvPr>
          <p:cNvSpPr txBox="1">
            <a:spLocks/>
          </p:cNvSpPr>
          <p:nvPr/>
        </p:nvSpPr>
        <p:spPr>
          <a:xfrm>
            <a:off x="975365" y="4867526"/>
            <a:ext cx="7390869" cy="7449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sz="1800" i="1">
                <a:sym typeface="Wingdings" pitchFamily="2" charset="2"/>
              </a:rPr>
              <a:t>=&gt; </a:t>
            </a:r>
            <a:r>
              <a:rPr lang="de-AT" sz="1800" b="1" i="1"/>
              <a:t>Current Solution</a:t>
            </a:r>
            <a:r>
              <a:rPr lang="de-AT" sz="1800" i="1"/>
              <a:t>: Piecewise Constant Reconstruction of bottom</a:t>
            </a:r>
          </a:p>
          <a:p>
            <a:pPr marL="0" indent="0">
              <a:buFont typeface="Wingdings" pitchFamily="2" charset="2"/>
              <a:buNone/>
            </a:pPr>
            <a:r>
              <a:rPr lang="de-AT" sz="1800" i="1"/>
              <a:t>			-&gt; avoids negative RECONSTRUCTED h</a:t>
            </a:r>
          </a:p>
          <a:p>
            <a:pPr marL="0" indent="0">
              <a:buFont typeface="Wingdings" pitchFamily="2" charset="2"/>
              <a:buNone/>
            </a:pPr>
            <a:endParaRPr lang="de-AT" sz="1600" i="1"/>
          </a:p>
          <a:p>
            <a:pPr marL="0" indent="0">
              <a:buFont typeface="Wingdings" pitchFamily="2" charset="2"/>
              <a:buNone/>
            </a:pPr>
            <a:r>
              <a:rPr lang="de-AT" sz="1600" i="1"/>
              <a:t>				           </a:t>
            </a:r>
            <a:r>
              <a:rPr lang="de-AT" sz="1600" b="1" i="1"/>
              <a:t>				      		</a:t>
            </a:r>
          </a:p>
          <a:p>
            <a:pPr marL="0" indent="0">
              <a:buFont typeface="Wingdings" pitchFamily="2" charset="2"/>
              <a:buNone/>
            </a:pPr>
            <a:endParaRPr lang="de-AT" sz="1600" b="1" i="1"/>
          </a:p>
        </p:txBody>
      </p:sp>
    </p:spTree>
    <p:extLst>
      <p:ext uri="{BB962C8B-B14F-4D97-AF65-F5344CB8AC3E}">
        <p14:creationId xmlns:p14="http://schemas.microsoft.com/office/powerpoint/2010/main" val="2631077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0B27D-8CFC-AB1C-B1F8-30BF55A73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0242BE75-20AA-DAFC-1B47-EA2BDF0CF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sz="1800" b="1" i="1"/>
              <a:t>					Core Solver</a:t>
            </a:r>
          </a:p>
          <a:p>
            <a:pPr marL="0" indent="0">
              <a:buNone/>
            </a:pPr>
            <a:r>
              <a:rPr lang="de-AT" sz="1800" b="1" i="1"/>
              <a:t>				               </a:t>
            </a:r>
            <a:r>
              <a:rPr lang="de-AT" sz="1800" i="1"/>
              <a:t>Modular solver</a:t>
            </a:r>
          </a:p>
          <a:p>
            <a:pPr marL="0" indent="0">
              <a:buNone/>
            </a:pPr>
            <a:endParaRPr lang="de-AT" sz="1800" i="1"/>
          </a:p>
          <a:p>
            <a:pPr marL="0" indent="0">
              <a:buNone/>
            </a:pPr>
            <a:r>
              <a:rPr lang="de-AT" sz="1800" i="1"/>
              <a:t>					</a:t>
            </a:r>
            <a:r>
              <a:rPr lang="de-AT" sz="1800" b="1" i="1"/>
              <a:t>Acceleration</a:t>
            </a:r>
            <a:endParaRPr lang="de-AT" sz="1800" i="1"/>
          </a:p>
          <a:p>
            <a:pPr marL="0" indent="0">
              <a:buNone/>
            </a:pPr>
            <a:r>
              <a:rPr lang="de-AT" sz="1800" b="1" i="1"/>
              <a:t>				         </a:t>
            </a:r>
            <a:r>
              <a:rPr lang="de-AT" sz="1800" i="1"/>
              <a:t>Optimized serial solver</a:t>
            </a:r>
            <a:endParaRPr lang="de-AT" sz="1800" b="1" i="1"/>
          </a:p>
          <a:p>
            <a:pPr marL="0" indent="0">
              <a:buNone/>
            </a:pPr>
            <a:r>
              <a:rPr lang="de-AT" sz="1800" b="1" i="1"/>
              <a:t>				    </a:t>
            </a:r>
            <a:r>
              <a:rPr lang="de-AT" sz="1800" i="1"/>
              <a:t>Parallelization with OpenMP</a:t>
            </a:r>
          </a:p>
          <a:p>
            <a:pPr marL="0" indent="0">
              <a:buNone/>
            </a:pPr>
            <a:r>
              <a:rPr lang="de-AT" sz="1800" i="1"/>
              <a:t>				          GPU use with CUDA</a:t>
            </a:r>
          </a:p>
          <a:p>
            <a:pPr marL="0" indent="0">
              <a:buNone/>
            </a:pPr>
            <a:endParaRPr lang="de-AT" sz="1800" i="1"/>
          </a:p>
          <a:p>
            <a:pPr marL="0" indent="0">
              <a:buNone/>
            </a:pPr>
            <a:r>
              <a:rPr lang="de-AT" sz="1800" i="1"/>
              <a:t>					   </a:t>
            </a:r>
            <a:r>
              <a:rPr lang="de-AT" sz="1800" b="1" i="1"/>
              <a:t> Analysis</a:t>
            </a:r>
            <a:endParaRPr lang="de-AT" sz="1800" i="1"/>
          </a:p>
          <a:p>
            <a:pPr marL="0" indent="0">
              <a:buNone/>
            </a:pPr>
            <a:r>
              <a:rPr lang="de-AT" sz="1800" i="1"/>
              <a:t>				          strong scaling analysis</a:t>
            </a:r>
          </a:p>
          <a:p>
            <a:pPr marL="0" indent="0">
              <a:buNone/>
            </a:pPr>
            <a:r>
              <a:rPr lang="de-AT" sz="1800" i="1"/>
              <a:t>				           weak scaling analysis</a:t>
            </a:r>
          </a:p>
          <a:p>
            <a:pPr marL="0" indent="0">
              <a:buNone/>
            </a:pPr>
            <a:r>
              <a:rPr lang="de-AT" sz="1800" i="1"/>
              <a:t>					CPU vs. GPU</a:t>
            </a:r>
            <a:endParaRPr lang="de-AT" sz="1800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07938CC1-5FA6-BA38-B1DA-41F2467477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Project Scope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F7A9AA9-3A66-DEDE-F766-CC247A3A2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829B34-DF85-7E32-86A7-43FCA42A1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0BB7FC-9134-503C-0F89-B929E34AE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14</a:t>
            </a:fld>
            <a:endParaRPr lang="de-DE"/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0EE62263-1081-C69D-B506-CC7C45621C4E}"/>
              </a:ext>
            </a:extLst>
          </p:cNvPr>
          <p:cNvCxnSpPr/>
          <p:nvPr/>
        </p:nvCxnSpPr>
        <p:spPr>
          <a:xfrm>
            <a:off x="4067503" y="3342288"/>
            <a:ext cx="376270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43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2F809-B835-119E-9C88-6D00E6477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437E5640-4211-0B86-9B50-FD40C69E6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					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46616544-A304-FCAD-8363-13DAB0ECA3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Modular Solver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8446AA4-296F-604A-046A-95EB6AE0C5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6A3F50-D3BC-5793-D2A2-993FD29FF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978AC6-7AE9-9B22-8B91-B806F14C6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8" name="Inhaltsplatzhalter 22">
            <a:extLst>
              <a:ext uri="{FF2B5EF4-FFF2-40B4-BE49-F238E27FC236}">
                <a16:creationId xmlns:a16="http://schemas.microsoft.com/office/drawing/2014/main" id="{7FBA72A7-39EF-4996-D450-F2887F62B705}"/>
              </a:ext>
            </a:extLst>
          </p:cNvPr>
          <p:cNvSpPr txBox="1">
            <a:spLocks/>
          </p:cNvSpPr>
          <p:nvPr/>
        </p:nvSpPr>
        <p:spPr>
          <a:xfrm>
            <a:off x="919809" y="1282542"/>
            <a:ext cx="5859364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1800" b="1" i="1"/>
              <a:t>Pros:</a:t>
            </a:r>
          </a:p>
          <a:p>
            <a:pPr marL="0" indent="0">
              <a:buNone/>
            </a:pPr>
            <a:endParaRPr lang="de-AT" sz="1800" b="1" i="1"/>
          </a:p>
          <a:p>
            <a:pPr>
              <a:buFontTx/>
              <a:buChar char="-"/>
            </a:pPr>
            <a:r>
              <a:rPr lang="de-AT" sz="1800" i="1"/>
              <a:t>Modular</a:t>
            </a:r>
          </a:p>
          <a:p>
            <a:pPr>
              <a:buFontTx/>
              <a:buChar char="-"/>
            </a:pPr>
            <a:r>
              <a:rPr lang="de-AT" sz="1800" i="1"/>
              <a:t>Easy to extend</a:t>
            </a:r>
          </a:p>
          <a:p>
            <a:pPr>
              <a:buFontTx/>
              <a:buChar char="-"/>
            </a:pPr>
            <a:r>
              <a:rPr lang="de-AT" sz="1800" i="1"/>
              <a:t>Useful for testing and comparison</a:t>
            </a:r>
          </a:p>
        </p:txBody>
      </p:sp>
      <p:sp>
        <p:nvSpPr>
          <p:cNvPr id="9" name="Inhaltsplatzhalter 22">
            <a:extLst>
              <a:ext uri="{FF2B5EF4-FFF2-40B4-BE49-F238E27FC236}">
                <a16:creationId xmlns:a16="http://schemas.microsoft.com/office/drawing/2014/main" id="{BA2E4073-7C0C-B07D-1644-E1F29C3A1B00}"/>
              </a:ext>
            </a:extLst>
          </p:cNvPr>
          <p:cNvSpPr txBox="1">
            <a:spLocks/>
          </p:cNvSpPr>
          <p:nvPr/>
        </p:nvSpPr>
        <p:spPr>
          <a:xfrm>
            <a:off x="6488966" y="1282541"/>
            <a:ext cx="5859364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1800" b="1" i="1"/>
              <a:t>Cons:</a:t>
            </a:r>
          </a:p>
          <a:p>
            <a:pPr marL="0" indent="0">
              <a:buNone/>
            </a:pPr>
            <a:endParaRPr lang="de-AT" sz="1800" b="1" i="1"/>
          </a:p>
          <a:p>
            <a:pPr>
              <a:buFontTx/>
              <a:buChar char="-"/>
            </a:pPr>
            <a:r>
              <a:rPr lang="de-AT" sz="1800" i="1"/>
              <a:t>Repeated object construction</a:t>
            </a:r>
          </a:p>
          <a:p>
            <a:pPr>
              <a:buFontTx/>
              <a:buChar char="-"/>
            </a:pPr>
            <a:r>
              <a:rPr lang="de-AT" sz="1800" i="1"/>
              <a:t>Repeated bound-check </a:t>
            </a:r>
          </a:p>
          <a:p>
            <a:pPr>
              <a:buFontTx/>
              <a:buChar char="-"/>
            </a:pPr>
            <a:r>
              <a:rPr lang="de-AT" sz="1800" i="1"/>
              <a:t>Poor cache efficiency</a:t>
            </a:r>
          </a:p>
          <a:p>
            <a:pPr>
              <a:buFontTx/>
              <a:buChar char="-"/>
            </a:pPr>
            <a:r>
              <a:rPr lang="de-AT" sz="1800" i="1"/>
              <a:t>Function-call overhead by Reconstruction and Riemann</a:t>
            </a:r>
          </a:p>
          <a:p>
            <a:pPr>
              <a:buFontTx/>
              <a:buChar char="-"/>
            </a:pPr>
            <a:r>
              <a:rPr lang="de-AT" sz="1800" i="1"/>
              <a:t>Large temporary flux fields </a:t>
            </a:r>
          </a:p>
        </p:txBody>
      </p:sp>
    </p:spTree>
    <p:extLst>
      <p:ext uri="{BB962C8B-B14F-4D97-AF65-F5344CB8AC3E}">
        <p14:creationId xmlns:p14="http://schemas.microsoft.com/office/powerpoint/2010/main" val="3024382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69BA-FBF2-A065-C898-D8D74A160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8EDE09CF-0551-855B-8AE6-4F96AA3D9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					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AC0F76ED-7C22-E686-4827-3558BAAB4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Modular Solver - Optimizations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73395E9-5D1A-A132-64AF-8DAA1FEB9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F81D2EB-6B3E-CC8B-E54D-149E97601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5FBEEA-E078-0BC2-27F4-0C68B33E0F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8" name="Inhaltsplatzhalter 22">
            <a:extLst>
              <a:ext uri="{FF2B5EF4-FFF2-40B4-BE49-F238E27FC236}">
                <a16:creationId xmlns:a16="http://schemas.microsoft.com/office/drawing/2014/main" id="{6488BE2F-F760-4F71-60B4-94DD30412C4A}"/>
              </a:ext>
            </a:extLst>
          </p:cNvPr>
          <p:cNvSpPr txBox="1">
            <a:spLocks/>
          </p:cNvSpPr>
          <p:nvPr/>
        </p:nvSpPr>
        <p:spPr>
          <a:xfrm>
            <a:off x="919808" y="1282542"/>
            <a:ext cx="10858029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1800" b="1" i="1"/>
              <a:t>Repeated bound-check 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D27108-7E12-B6BD-21D4-9204C18AA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08" y="1944414"/>
            <a:ext cx="6057900" cy="1371600"/>
          </a:xfrm>
          <a:prstGeom prst="rect">
            <a:avLst/>
          </a:prstGeom>
        </p:spPr>
      </p:pic>
      <p:sp>
        <p:nvSpPr>
          <p:cNvPr id="19" name="Freihandform 18">
            <a:extLst>
              <a:ext uri="{FF2B5EF4-FFF2-40B4-BE49-F238E27FC236}">
                <a16:creationId xmlns:a16="http://schemas.microsoft.com/office/drawing/2014/main" id="{C91A84A6-B391-E5F0-6759-54C25CB21D7F}"/>
              </a:ext>
            </a:extLst>
          </p:cNvPr>
          <p:cNvSpPr/>
          <p:nvPr/>
        </p:nvSpPr>
        <p:spPr>
          <a:xfrm>
            <a:off x="478002" y="3279228"/>
            <a:ext cx="268232" cy="1135117"/>
          </a:xfrm>
          <a:custGeom>
            <a:avLst/>
            <a:gdLst>
              <a:gd name="csX0" fmla="*/ 268232 w 268232"/>
              <a:gd name="csY0" fmla="*/ 0 h 1135117"/>
              <a:gd name="csX1" fmla="*/ 79046 w 268232"/>
              <a:gd name="csY1" fmla="*/ 84082 h 1135117"/>
              <a:gd name="csX2" fmla="*/ 26495 w 268232"/>
              <a:gd name="csY2" fmla="*/ 252248 h 1135117"/>
              <a:gd name="csX3" fmla="*/ 15984 w 268232"/>
              <a:gd name="csY3" fmla="*/ 767255 h 1135117"/>
              <a:gd name="csX4" fmla="*/ 247212 w 268232"/>
              <a:gd name="csY4" fmla="*/ 1135117 h 1135117"/>
              <a:gd name="csX5" fmla="*/ 247212 w 268232"/>
              <a:gd name="csY5" fmla="*/ 1135117 h 1135117"/>
              <a:gd name="csX6" fmla="*/ 247212 w 268232"/>
              <a:gd name="csY6" fmla="*/ 1135117 h 11351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8232" h="1135117">
                <a:moveTo>
                  <a:pt x="268232" y="0"/>
                </a:moveTo>
                <a:cubicBezTo>
                  <a:pt x="193783" y="21020"/>
                  <a:pt x="119335" y="42041"/>
                  <a:pt x="79046" y="84082"/>
                </a:cubicBezTo>
                <a:cubicBezTo>
                  <a:pt x="38757" y="126123"/>
                  <a:pt x="37005" y="138386"/>
                  <a:pt x="26495" y="252248"/>
                </a:cubicBezTo>
                <a:cubicBezTo>
                  <a:pt x="15985" y="366110"/>
                  <a:pt x="-20802" y="620110"/>
                  <a:pt x="15984" y="767255"/>
                </a:cubicBezTo>
                <a:cubicBezTo>
                  <a:pt x="52770" y="914400"/>
                  <a:pt x="247212" y="1135117"/>
                  <a:pt x="247212" y="1135117"/>
                </a:cubicBezTo>
                <a:lnTo>
                  <a:pt x="247212" y="1135117"/>
                </a:lnTo>
                <a:lnTo>
                  <a:pt x="247212" y="1135117"/>
                </a:ln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67B5379-AD5B-11D9-752F-E54FA8D4A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634" y="4237366"/>
            <a:ext cx="66548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52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A4B8-77D0-8F36-B607-C22ECB2A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902AD812-4E53-B830-5DFD-34581A171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					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735A33C-4996-D075-B733-A734E5CBAE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Modular Solver - Optimizations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5CDB666-6ACA-E8B0-4216-9D3A942F8E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2E46F7A-CD80-A925-8655-A297AC1C5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4A03B7C-F91B-7D01-6BE9-5380810C03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8" name="Inhaltsplatzhalter 22">
            <a:extLst>
              <a:ext uri="{FF2B5EF4-FFF2-40B4-BE49-F238E27FC236}">
                <a16:creationId xmlns:a16="http://schemas.microsoft.com/office/drawing/2014/main" id="{A3CFD86A-8D89-1471-4913-53F7CB310C6D}"/>
              </a:ext>
            </a:extLst>
          </p:cNvPr>
          <p:cNvSpPr txBox="1">
            <a:spLocks/>
          </p:cNvSpPr>
          <p:nvPr/>
        </p:nvSpPr>
        <p:spPr>
          <a:xfrm>
            <a:off x="919808" y="1282542"/>
            <a:ext cx="10858029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1800" b="1" i="1"/>
              <a:t>Repeated object construction:</a:t>
            </a:r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CBDCF24E-CB55-A58B-C30D-A72420B672F6}"/>
              </a:ext>
            </a:extLst>
          </p:cNvPr>
          <p:cNvSpPr/>
          <p:nvPr/>
        </p:nvSpPr>
        <p:spPr>
          <a:xfrm>
            <a:off x="478002" y="3279228"/>
            <a:ext cx="268232" cy="1135117"/>
          </a:xfrm>
          <a:custGeom>
            <a:avLst/>
            <a:gdLst>
              <a:gd name="csX0" fmla="*/ 268232 w 268232"/>
              <a:gd name="csY0" fmla="*/ 0 h 1135117"/>
              <a:gd name="csX1" fmla="*/ 79046 w 268232"/>
              <a:gd name="csY1" fmla="*/ 84082 h 1135117"/>
              <a:gd name="csX2" fmla="*/ 26495 w 268232"/>
              <a:gd name="csY2" fmla="*/ 252248 h 1135117"/>
              <a:gd name="csX3" fmla="*/ 15984 w 268232"/>
              <a:gd name="csY3" fmla="*/ 767255 h 1135117"/>
              <a:gd name="csX4" fmla="*/ 247212 w 268232"/>
              <a:gd name="csY4" fmla="*/ 1135117 h 1135117"/>
              <a:gd name="csX5" fmla="*/ 247212 w 268232"/>
              <a:gd name="csY5" fmla="*/ 1135117 h 1135117"/>
              <a:gd name="csX6" fmla="*/ 247212 w 268232"/>
              <a:gd name="csY6" fmla="*/ 1135117 h 11351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8232" h="1135117">
                <a:moveTo>
                  <a:pt x="268232" y="0"/>
                </a:moveTo>
                <a:cubicBezTo>
                  <a:pt x="193783" y="21020"/>
                  <a:pt x="119335" y="42041"/>
                  <a:pt x="79046" y="84082"/>
                </a:cubicBezTo>
                <a:cubicBezTo>
                  <a:pt x="38757" y="126123"/>
                  <a:pt x="37005" y="138386"/>
                  <a:pt x="26495" y="252248"/>
                </a:cubicBezTo>
                <a:cubicBezTo>
                  <a:pt x="15985" y="366110"/>
                  <a:pt x="-20802" y="620110"/>
                  <a:pt x="15984" y="767255"/>
                </a:cubicBezTo>
                <a:cubicBezTo>
                  <a:pt x="52770" y="914400"/>
                  <a:pt x="247212" y="1135117"/>
                  <a:pt x="247212" y="1135117"/>
                </a:cubicBezTo>
                <a:lnTo>
                  <a:pt x="247212" y="1135117"/>
                </a:lnTo>
                <a:lnTo>
                  <a:pt x="247212" y="1135117"/>
                </a:ln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2848F80-182F-01D1-956E-0FD2FFFD0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01" y="2734000"/>
            <a:ext cx="4330700" cy="8763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513D328-9144-AD66-0F27-46193DAA9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81" y="4271532"/>
            <a:ext cx="6819900" cy="889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8C348DA9-648E-2084-9CBA-0F2E4971A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9915" y="1891465"/>
            <a:ext cx="5308600" cy="2794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5F72EAC1-5C13-AD17-4E1A-F58D61857049}"/>
              </a:ext>
            </a:extLst>
          </p:cNvPr>
          <p:cNvSpPr txBox="1"/>
          <p:nvPr/>
        </p:nvSpPr>
        <p:spPr>
          <a:xfrm>
            <a:off x="1238474" y="2273582"/>
            <a:ext cx="30001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/>
              <a:t>// extract data from U at indices i and j</a:t>
            </a:r>
          </a:p>
        </p:txBody>
      </p:sp>
      <p:cxnSp>
        <p:nvCxnSpPr>
          <p:cNvPr id="15" name="Gerade Verbindung 14">
            <a:extLst>
              <a:ext uri="{FF2B5EF4-FFF2-40B4-BE49-F238E27FC236}">
                <a16:creationId xmlns:a16="http://schemas.microsoft.com/office/drawing/2014/main" id="{BA8A0B79-0932-BC75-EC53-872A71ABDEF8}"/>
              </a:ext>
            </a:extLst>
          </p:cNvPr>
          <p:cNvCxnSpPr/>
          <p:nvPr/>
        </p:nvCxnSpPr>
        <p:spPr>
          <a:xfrm>
            <a:off x="1154394" y="1891465"/>
            <a:ext cx="0" cy="1716207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423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1D606-6A8C-D5C6-8FE1-C498433EC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AACF64A8-77E4-4CA1-A749-4F3ED6758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					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6144F0E-2E8F-7741-188A-3FC71F872D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Modular Solver - Optimizations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18183EF-6E5A-D3B8-DBA0-E55D5C80A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9A10B6C-7515-710B-A132-C977B018C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8A3AEB-F73A-CBA3-AAA5-0541A50A0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8" name="Inhaltsplatzhalter 22">
            <a:extLst>
              <a:ext uri="{FF2B5EF4-FFF2-40B4-BE49-F238E27FC236}">
                <a16:creationId xmlns:a16="http://schemas.microsoft.com/office/drawing/2014/main" id="{795D8325-A306-B552-552D-8F4FA59A5DA9}"/>
              </a:ext>
            </a:extLst>
          </p:cNvPr>
          <p:cNvSpPr txBox="1">
            <a:spLocks/>
          </p:cNvSpPr>
          <p:nvPr/>
        </p:nvSpPr>
        <p:spPr>
          <a:xfrm>
            <a:off x="919808" y="1282542"/>
            <a:ext cx="10858029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1800" b="1" i="1"/>
              <a:t>Function overhead:</a:t>
            </a:r>
          </a:p>
          <a:p>
            <a:pPr marL="0" indent="0">
              <a:buNone/>
            </a:pPr>
            <a:r>
              <a:rPr lang="de-AT" sz="1800" b="1" i="1"/>
              <a:t>Structure of arrays vs Array of structures:</a:t>
            </a:r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25E44C95-DF06-5D6D-2E0F-2684F95AE9F3}"/>
              </a:ext>
            </a:extLst>
          </p:cNvPr>
          <p:cNvSpPr/>
          <p:nvPr/>
        </p:nvSpPr>
        <p:spPr>
          <a:xfrm>
            <a:off x="478002" y="3279228"/>
            <a:ext cx="268232" cy="1135117"/>
          </a:xfrm>
          <a:custGeom>
            <a:avLst/>
            <a:gdLst>
              <a:gd name="csX0" fmla="*/ 268232 w 268232"/>
              <a:gd name="csY0" fmla="*/ 0 h 1135117"/>
              <a:gd name="csX1" fmla="*/ 79046 w 268232"/>
              <a:gd name="csY1" fmla="*/ 84082 h 1135117"/>
              <a:gd name="csX2" fmla="*/ 26495 w 268232"/>
              <a:gd name="csY2" fmla="*/ 252248 h 1135117"/>
              <a:gd name="csX3" fmla="*/ 15984 w 268232"/>
              <a:gd name="csY3" fmla="*/ 767255 h 1135117"/>
              <a:gd name="csX4" fmla="*/ 247212 w 268232"/>
              <a:gd name="csY4" fmla="*/ 1135117 h 1135117"/>
              <a:gd name="csX5" fmla="*/ 247212 w 268232"/>
              <a:gd name="csY5" fmla="*/ 1135117 h 1135117"/>
              <a:gd name="csX6" fmla="*/ 247212 w 268232"/>
              <a:gd name="csY6" fmla="*/ 1135117 h 11351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8232" h="1135117">
                <a:moveTo>
                  <a:pt x="268232" y="0"/>
                </a:moveTo>
                <a:cubicBezTo>
                  <a:pt x="193783" y="21020"/>
                  <a:pt x="119335" y="42041"/>
                  <a:pt x="79046" y="84082"/>
                </a:cubicBezTo>
                <a:cubicBezTo>
                  <a:pt x="38757" y="126123"/>
                  <a:pt x="37005" y="138386"/>
                  <a:pt x="26495" y="252248"/>
                </a:cubicBezTo>
                <a:cubicBezTo>
                  <a:pt x="15985" y="366110"/>
                  <a:pt x="-20802" y="620110"/>
                  <a:pt x="15984" y="767255"/>
                </a:cubicBezTo>
                <a:cubicBezTo>
                  <a:pt x="52770" y="914400"/>
                  <a:pt x="247212" y="1135117"/>
                  <a:pt x="247212" y="1135117"/>
                </a:cubicBezTo>
                <a:lnTo>
                  <a:pt x="247212" y="1135117"/>
                </a:lnTo>
                <a:lnTo>
                  <a:pt x="247212" y="1135117"/>
                </a:ln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EB8972D-F372-5527-955F-E51CFAA4C8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533"/>
          <a:stretch>
            <a:fillRect/>
          </a:stretch>
        </p:blipFill>
        <p:spPr>
          <a:xfrm>
            <a:off x="1092200" y="4180525"/>
            <a:ext cx="3873500" cy="80257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DBB2CFD-C499-1367-44CE-67DFB0BF5E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044"/>
          <a:stretch>
            <a:fillRect/>
          </a:stretch>
        </p:blipFill>
        <p:spPr>
          <a:xfrm>
            <a:off x="1092200" y="2222756"/>
            <a:ext cx="5003800" cy="1389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8D3D672-4A7B-3CA2-A788-8975BA3D0E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050"/>
          <a:stretch>
            <a:fillRect/>
          </a:stretch>
        </p:blipFill>
        <p:spPr>
          <a:xfrm>
            <a:off x="6358818" y="2222756"/>
            <a:ext cx="5003800" cy="147807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983FAAE-FB8D-A744-3CED-E61AC66A2D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120"/>
          <a:stretch>
            <a:fillRect/>
          </a:stretch>
        </p:blipFill>
        <p:spPr>
          <a:xfrm>
            <a:off x="6335138" y="4000658"/>
            <a:ext cx="3873500" cy="982437"/>
          </a:xfrm>
          <a:prstGeom prst="rect">
            <a:avLst/>
          </a:prstGeom>
        </p:spPr>
      </p:pic>
      <p:cxnSp>
        <p:nvCxnSpPr>
          <p:cNvPr id="14" name="Gerade Verbindung 13">
            <a:extLst>
              <a:ext uri="{FF2B5EF4-FFF2-40B4-BE49-F238E27FC236}">
                <a16:creationId xmlns:a16="http://schemas.microsoft.com/office/drawing/2014/main" id="{0B12780C-4FD2-C7E2-791E-D4C0F986D904}"/>
              </a:ext>
            </a:extLst>
          </p:cNvPr>
          <p:cNvCxnSpPr/>
          <p:nvPr/>
        </p:nvCxnSpPr>
        <p:spPr>
          <a:xfrm>
            <a:off x="1092200" y="2222756"/>
            <a:ext cx="0" cy="13894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B8B57496-85C3-373D-57E8-616DD49DE6E8}"/>
              </a:ext>
            </a:extLst>
          </p:cNvPr>
          <p:cNvCxnSpPr>
            <a:cxnSpLocks/>
          </p:cNvCxnSpPr>
          <p:nvPr/>
        </p:nvCxnSpPr>
        <p:spPr>
          <a:xfrm>
            <a:off x="1092200" y="4000658"/>
            <a:ext cx="0" cy="114941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0B788A7C-877D-E6EF-7E7C-1BEA6B38DC7E}"/>
              </a:ext>
            </a:extLst>
          </p:cNvPr>
          <p:cNvCxnSpPr/>
          <p:nvPr/>
        </p:nvCxnSpPr>
        <p:spPr>
          <a:xfrm>
            <a:off x="6363197" y="2222755"/>
            <a:ext cx="0" cy="13894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Gerade Verbindung 19">
            <a:extLst>
              <a:ext uri="{FF2B5EF4-FFF2-40B4-BE49-F238E27FC236}">
                <a16:creationId xmlns:a16="http://schemas.microsoft.com/office/drawing/2014/main" id="{E7884430-F272-3BA4-E103-5EDDD81506FE}"/>
              </a:ext>
            </a:extLst>
          </p:cNvPr>
          <p:cNvCxnSpPr>
            <a:cxnSpLocks/>
          </p:cNvCxnSpPr>
          <p:nvPr/>
        </p:nvCxnSpPr>
        <p:spPr>
          <a:xfrm>
            <a:off x="6363197" y="4068513"/>
            <a:ext cx="0" cy="10815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Freihandform 24">
            <a:extLst>
              <a:ext uri="{FF2B5EF4-FFF2-40B4-BE49-F238E27FC236}">
                <a16:creationId xmlns:a16="http://schemas.microsoft.com/office/drawing/2014/main" id="{3CD91F46-5433-D995-0C26-7DB5A22A9C22}"/>
              </a:ext>
            </a:extLst>
          </p:cNvPr>
          <p:cNvSpPr/>
          <p:nvPr/>
        </p:nvSpPr>
        <p:spPr>
          <a:xfrm>
            <a:off x="5928190" y="3328821"/>
            <a:ext cx="268232" cy="1135117"/>
          </a:xfrm>
          <a:custGeom>
            <a:avLst/>
            <a:gdLst>
              <a:gd name="csX0" fmla="*/ 268232 w 268232"/>
              <a:gd name="csY0" fmla="*/ 0 h 1135117"/>
              <a:gd name="csX1" fmla="*/ 79046 w 268232"/>
              <a:gd name="csY1" fmla="*/ 84082 h 1135117"/>
              <a:gd name="csX2" fmla="*/ 26495 w 268232"/>
              <a:gd name="csY2" fmla="*/ 252248 h 1135117"/>
              <a:gd name="csX3" fmla="*/ 15984 w 268232"/>
              <a:gd name="csY3" fmla="*/ 767255 h 1135117"/>
              <a:gd name="csX4" fmla="*/ 247212 w 268232"/>
              <a:gd name="csY4" fmla="*/ 1135117 h 1135117"/>
              <a:gd name="csX5" fmla="*/ 247212 w 268232"/>
              <a:gd name="csY5" fmla="*/ 1135117 h 1135117"/>
              <a:gd name="csX6" fmla="*/ 247212 w 268232"/>
              <a:gd name="csY6" fmla="*/ 1135117 h 11351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8232" h="1135117">
                <a:moveTo>
                  <a:pt x="268232" y="0"/>
                </a:moveTo>
                <a:cubicBezTo>
                  <a:pt x="193783" y="21020"/>
                  <a:pt x="119335" y="42041"/>
                  <a:pt x="79046" y="84082"/>
                </a:cubicBezTo>
                <a:cubicBezTo>
                  <a:pt x="38757" y="126123"/>
                  <a:pt x="37005" y="138386"/>
                  <a:pt x="26495" y="252248"/>
                </a:cubicBezTo>
                <a:cubicBezTo>
                  <a:pt x="15985" y="366110"/>
                  <a:pt x="-20802" y="620110"/>
                  <a:pt x="15984" y="767255"/>
                </a:cubicBezTo>
                <a:cubicBezTo>
                  <a:pt x="52770" y="914400"/>
                  <a:pt x="247212" y="1135117"/>
                  <a:pt x="247212" y="1135117"/>
                </a:cubicBezTo>
                <a:lnTo>
                  <a:pt x="247212" y="1135117"/>
                </a:lnTo>
                <a:lnTo>
                  <a:pt x="247212" y="1135117"/>
                </a:ln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7782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288FD-842D-135B-97D1-DE9CA0F0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5C2F172D-AE2B-8DF8-D6D6-2F0607C2D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					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F9EE0EF9-79DE-D6D0-1F59-F8756F0C1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OpenMP Solver - Optimizations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60B7E0C0-5CE5-CE06-CA50-1FDAA30E4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604434D-3E8A-3098-D217-F7D80221F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102BF3-23D7-01E5-0290-5A8EAFABDB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8" name="Inhaltsplatzhalter 22">
            <a:extLst>
              <a:ext uri="{FF2B5EF4-FFF2-40B4-BE49-F238E27FC236}">
                <a16:creationId xmlns:a16="http://schemas.microsoft.com/office/drawing/2014/main" id="{EBD0BC1D-3B4D-86D7-05A1-EE81C5374D4E}"/>
              </a:ext>
            </a:extLst>
          </p:cNvPr>
          <p:cNvSpPr txBox="1">
            <a:spLocks/>
          </p:cNvSpPr>
          <p:nvPr/>
        </p:nvSpPr>
        <p:spPr>
          <a:xfrm>
            <a:off x="919808" y="1282542"/>
            <a:ext cx="10858029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1800" b="1" i="1"/>
              <a:t>Parallelization of loops:</a:t>
            </a:r>
          </a:p>
        </p:txBody>
      </p:sp>
      <p:sp>
        <p:nvSpPr>
          <p:cNvPr id="19" name="Freihandform 18">
            <a:extLst>
              <a:ext uri="{FF2B5EF4-FFF2-40B4-BE49-F238E27FC236}">
                <a16:creationId xmlns:a16="http://schemas.microsoft.com/office/drawing/2014/main" id="{A4A913FD-3A2C-FE46-DABC-0EFC2C31DFAD}"/>
              </a:ext>
            </a:extLst>
          </p:cNvPr>
          <p:cNvSpPr/>
          <p:nvPr/>
        </p:nvSpPr>
        <p:spPr>
          <a:xfrm>
            <a:off x="575099" y="3088374"/>
            <a:ext cx="268232" cy="1135117"/>
          </a:xfrm>
          <a:custGeom>
            <a:avLst/>
            <a:gdLst>
              <a:gd name="csX0" fmla="*/ 268232 w 268232"/>
              <a:gd name="csY0" fmla="*/ 0 h 1135117"/>
              <a:gd name="csX1" fmla="*/ 79046 w 268232"/>
              <a:gd name="csY1" fmla="*/ 84082 h 1135117"/>
              <a:gd name="csX2" fmla="*/ 26495 w 268232"/>
              <a:gd name="csY2" fmla="*/ 252248 h 1135117"/>
              <a:gd name="csX3" fmla="*/ 15984 w 268232"/>
              <a:gd name="csY3" fmla="*/ 767255 h 1135117"/>
              <a:gd name="csX4" fmla="*/ 247212 w 268232"/>
              <a:gd name="csY4" fmla="*/ 1135117 h 1135117"/>
              <a:gd name="csX5" fmla="*/ 247212 w 268232"/>
              <a:gd name="csY5" fmla="*/ 1135117 h 1135117"/>
              <a:gd name="csX6" fmla="*/ 247212 w 268232"/>
              <a:gd name="csY6" fmla="*/ 1135117 h 11351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68232" h="1135117">
                <a:moveTo>
                  <a:pt x="268232" y="0"/>
                </a:moveTo>
                <a:cubicBezTo>
                  <a:pt x="193783" y="21020"/>
                  <a:pt x="119335" y="42041"/>
                  <a:pt x="79046" y="84082"/>
                </a:cubicBezTo>
                <a:cubicBezTo>
                  <a:pt x="38757" y="126123"/>
                  <a:pt x="37005" y="138386"/>
                  <a:pt x="26495" y="252248"/>
                </a:cubicBezTo>
                <a:cubicBezTo>
                  <a:pt x="15985" y="366110"/>
                  <a:pt x="-20802" y="620110"/>
                  <a:pt x="15984" y="767255"/>
                </a:cubicBezTo>
                <a:cubicBezTo>
                  <a:pt x="52770" y="914400"/>
                  <a:pt x="247212" y="1135117"/>
                  <a:pt x="247212" y="1135117"/>
                </a:cubicBezTo>
                <a:lnTo>
                  <a:pt x="247212" y="1135117"/>
                </a:lnTo>
                <a:lnTo>
                  <a:pt x="247212" y="1135117"/>
                </a:lnTo>
              </a:path>
            </a:pathLst>
          </a:cu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6B7E2DE-2618-7365-57E7-0D6CEBDEC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" y="3810158"/>
            <a:ext cx="5121216" cy="192391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141B57E-E0C8-6C62-32F4-E42850259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531" y="1930400"/>
            <a:ext cx="5121216" cy="124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15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BFE3E-A682-C383-6587-B7773DB3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C4011767-577D-6B52-9488-0F513E61B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					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9D73A4C3-E15A-5E5F-572A-9883016A5D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Results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1E2D58BE-522C-E8E4-00D9-FF0863745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2D244C-9CEB-CC8F-B6DA-7703D0DDD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0219164-A084-7396-F11A-4B8ABBDDA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20</a:t>
            </a:fld>
            <a:endParaRPr lang="de-DE"/>
          </a:p>
        </p:txBody>
      </p:sp>
      <p:pic>
        <p:nvPicPr>
          <p:cNvPr id="2" name="simulation_3d.mp4">
            <a:hlinkClick r:id="" action="ppaction://media"/>
            <a:extLst>
              <a:ext uri="{FF2B5EF4-FFF2-40B4-BE49-F238E27FC236}">
                <a16:creationId xmlns:a16="http://schemas.microsoft.com/office/drawing/2014/main" id="{577E3052-00DD-BA0E-9BDB-E9D4D71826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53102" y="332656"/>
            <a:ext cx="8653955" cy="576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18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689F-0735-CDF8-AABB-139161EA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67532157-F986-EDB8-2A8B-5A5E6B7EC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b="1" i="1"/>
              <a:t>					</a:t>
            </a:r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E9D06E2E-24A7-780D-E0AB-62ED6E92A2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Summary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96E351E-6FA6-9A24-AC83-9D92C2D80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C7FBCB3-21C4-8CA4-8E28-3260A451D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6699D6-5094-4E0D-05F8-98425BF09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21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BE77741-57A7-830D-97ED-C07B65834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477" y="1911787"/>
            <a:ext cx="8614129" cy="269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84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88D25-5935-80DD-BC0C-AF1C4A04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722956A1-EB8E-4395-CA4E-F6790FA83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AT" i="1"/>
              <a:t>[1] </a:t>
            </a:r>
            <a:r>
              <a:rPr lang="de-AT"/>
              <a:t>Vincent Guinot, Carole Delenne. MUSCL schemes for the shallow water sensitivity equations with passive</a:t>
            </a:r>
            <a:br>
              <a:rPr lang="de-AT"/>
            </a:br>
            <a:r>
              <a:rPr lang="de-AT"/>
              <a:t>scalar transport. Computers and Fluids, 2012, 59, pp.11-30. ⟨10.1016/j.compfluid.2012.02.001⟩. ⟨hal-01196932⟩</a:t>
            </a:r>
          </a:p>
          <a:p>
            <a:pPr marL="0" indent="0">
              <a:buNone/>
            </a:pPr>
            <a:r>
              <a:rPr lang="de-AT" i="1"/>
              <a:t>[2] </a:t>
            </a:r>
            <a:r>
              <a:rPr lang="de-AT"/>
              <a:t>P. L. ROE , Approximate Riemann Solvers, Parameter Vectors and Difference Schemes, Jpurnal of Computational Physics, 43, 357-372 (1981) </a:t>
            </a:r>
            <a:r>
              <a:rPr lang="de-AT" b="1" i="1"/>
              <a:t>	</a:t>
            </a:r>
          </a:p>
          <a:p>
            <a:pPr marL="0" indent="0">
              <a:buNone/>
            </a:pPr>
            <a:r>
              <a:rPr lang="de-AT" i="1"/>
              <a:t>[3] </a:t>
            </a:r>
            <a:r>
              <a:rPr lang="de-AT"/>
              <a:t>Sigal Gottlieb, Chi-Wang Shu, Eitan Tadmor, Strong Stability-Preserving High-Order Time Discretization Methods, SIAM REVIEW, 2001 Society for Industrial and Applied Mathematics, Vol. 43, No. 1, pp. 89–112</a:t>
            </a:r>
          </a:p>
          <a:p>
            <a:pPr marL="0" indent="0">
              <a:buNone/>
            </a:pPr>
            <a:r>
              <a:rPr lang="de-AT" i="1"/>
              <a:t>[4] </a:t>
            </a:r>
            <a:r>
              <a:rPr lang="de-AT"/>
              <a:t>Jose ́ M. Gallardo, Carlos Pare ́s, Manuel Castro, On a well-balanced high-order finite volume scheme for</a:t>
            </a:r>
            <a:br>
              <a:rPr lang="de-AT"/>
            </a:br>
            <a:r>
              <a:rPr lang="de-AT"/>
              <a:t>shallow water equations with topography and dry areas, Journal of Computational Physics 27 (2007) 574–601</a:t>
            </a:r>
            <a:endParaRPr lang="de-AT" b="1" i="1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572C89CE-5B89-37F3-A00A-DFE2B19527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Ressources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237C76-543A-8353-4370-D1B2F63D0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08265" y="6352404"/>
            <a:ext cx="1311917" cy="316684"/>
          </a:xfrm>
        </p:spPr>
        <p:txBody>
          <a:bodyPr/>
          <a:lstStyle/>
          <a:p>
            <a:fld id="{ED381BDB-BB76-C44E-A08C-D721FC055A84}" type="datetime1">
              <a:rPr lang="de-DE"/>
              <a:t>12.05.26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BD49C1-894D-5DB1-D636-D31A6ACFD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Lukas Blanck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031D61-A069-E553-5E9A-36B8EFFD7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/>
              <a:t>Page </a:t>
            </a:r>
            <a:fld id="{EBA229B5-7CFD-BC45-B1DD-7E8FA6FF2A01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2" name="Inhaltsplatzhalter 22">
            <a:extLst>
              <a:ext uri="{FF2B5EF4-FFF2-40B4-BE49-F238E27FC236}">
                <a16:creationId xmlns:a16="http://schemas.microsoft.com/office/drawing/2014/main" id="{95E978D7-987E-9732-DCF9-BBF3412E7FFC}"/>
              </a:ext>
            </a:extLst>
          </p:cNvPr>
          <p:cNvSpPr txBox="1">
            <a:spLocks/>
          </p:cNvSpPr>
          <p:nvPr/>
        </p:nvSpPr>
        <p:spPr>
          <a:xfrm>
            <a:off x="919808" y="1282542"/>
            <a:ext cx="10858029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733" kern="1200">
                <a:solidFill>
                  <a:srgbClr val="4C4D4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AT" b="1" i="1"/>
              <a:t>					</a:t>
            </a:r>
          </a:p>
        </p:txBody>
      </p:sp>
    </p:spTree>
    <p:extLst>
      <p:ext uri="{BB962C8B-B14F-4D97-AF65-F5344CB8AC3E}">
        <p14:creationId xmlns:p14="http://schemas.microsoft.com/office/powerpoint/2010/main" val="2017619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110E862-1FC5-D0D5-AF81-FC3E57091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422" y="2951163"/>
            <a:ext cx="10561669" cy="477837"/>
          </a:xfrm>
        </p:spPr>
        <p:txBody>
          <a:bodyPr/>
          <a:lstStyle/>
          <a:p>
            <a:r>
              <a:rPr lang="de-AT" sz="4000" err="1"/>
              <a:t>Thank</a:t>
            </a:r>
            <a:r>
              <a:rPr lang="de-AT" sz="4000"/>
              <a:t> you </a:t>
            </a:r>
            <a:r>
              <a:rPr lang="de-AT" sz="4000" err="1"/>
              <a:t>for</a:t>
            </a:r>
            <a:r>
              <a:rPr lang="de-AT" sz="4000"/>
              <a:t> </a:t>
            </a:r>
            <a:r>
              <a:rPr lang="de-AT" sz="4000" err="1"/>
              <a:t>your</a:t>
            </a:r>
            <a:r>
              <a:rPr lang="de-AT" sz="4000"/>
              <a:t> </a:t>
            </a:r>
            <a:r>
              <a:rPr lang="de-AT" sz="4000" err="1"/>
              <a:t>attention !</a:t>
            </a:r>
            <a:endParaRPr lang="de-AT" sz="400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B2E51A5-07F8-FAE1-0E5F-3E02298BE0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de-AT"/>
              <a:t>AG: HPC				Shallow Water Equations				Lukas Blanck</a:t>
            </a:r>
          </a:p>
        </p:txBody>
      </p:sp>
    </p:spTree>
    <p:extLst>
      <p:ext uri="{BB962C8B-B14F-4D97-AF65-F5344CB8AC3E}">
        <p14:creationId xmlns:p14="http://schemas.microsoft.com/office/powerpoint/2010/main" val="3471303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ib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��
</file>

<file path=customXml/itemProps1.xml><?xml version="1.0" encoding="utf-8"?>
<ds:datastoreItem xmlns:ds="http://schemas.openxmlformats.org/officeDocument/2006/customXml" ds:itemID="{E8D01778-62E1-4AD0-B2FB-E631DD3CCD47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1283</Words>
  <Application>Microsoft Macintosh PowerPoint</Application>
  <PresentationFormat>Breitbild</PresentationFormat>
  <Paragraphs>314</Paragraphs>
  <Slides>23</Slides>
  <Notes>21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Symbol</vt:lpstr>
      <vt:lpstr>Wingdings</vt:lpstr>
      <vt:lpstr>Office</vt:lpstr>
      <vt:lpstr>Shallow Water Equations: Progress report</vt:lpstr>
      <vt:lpstr>Shallow Water Equations</vt:lpstr>
      <vt:lpstr>Numerical Model</vt:lpstr>
      <vt:lpstr>Numerical Model - Space</vt:lpstr>
      <vt:lpstr>Numerical Model - Space</vt:lpstr>
      <vt:lpstr>Numerical Model - Space</vt:lpstr>
      <vt:lpstr>Numerical Model - Space</vt:lpstr>
      <vt:lpstr>Numerical Model - Space</vt:lpstr>
      <vt:lpstr>Numerical Model - Space</vt:lpstr>
      <vt:lpstr>Numerical Model - Space</vt:lpstr>
      <vt:lpstr>Numerical Model - Time</vt:lpstr>
      <vt:lpstr>Numerical Model - Problems</vt:lpstr>
      <vt:lpstr>Numerical Model - Problems</vt:lpstr>
      <vt:lpstr>Project Scope</vt:lpstr>
      <vt:lpstr>Modular Solver</vt:lpstr>
      <vt:lpstr>Modular Solver - Optimizations</vt:lpstr>
      <vt:lpstr>Modular Solver - Optimizations</vt:lpstr>
      <vt:lpstr>Modular Solver - Optimizations</vt:lpstr>
      <vt:lpstr>OpenMP Solver - Optimizations</vt:lpstr>
      <vt:lpstr>Results</vt:lpstr>
      <vt:lpstr>Summary</vt:lpstr>
      <vt:lpstr>Ressources</vt:lpstr>
      <vt:lpstr>Thank you for your attention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Johanna Blanck</cp:lastModifiedBy>
  <cp:revision>97</cp:revision>
  <dcterms:created xsi:type="dcterms:W3CDTF">2017-06-06T07:41:45Z</dcterms:created>
  <dcterms:modified xsi:type="dcterms:W3CDTF">2026-05-12T14:19:58Z</dcterms:modified>
</cp:coreProperties>
</file>