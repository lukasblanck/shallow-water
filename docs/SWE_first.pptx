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8" r:id="rId2"/>
  </p:sldMasterIdLst>
  <p:notesMasterIdLst>
    <p:notesMasterId r:id="rId18"/>
  </p:notesMasterIdLst>
  <p:handoutMasterIdLst>
    <p:handoutMasterId r:id="rId19"/>
  </p:handoutMasterIdLst>
  <p:sldIdLst>
    <p:sldId id="256" r:id="rId3"/>
    <p:sldId id="260" r:id="rId4"/>
    <p:sldId id="304" r:id="rId5"/>
    <p:sldId id="314" r:id="rId6"/>
    <p:sldId id="306" r:id="rId7"/>
    <p:sldId id="307" r:id="rId8"/>
    <p:sldId id="308" r:id="rId9"/>
    <p:sldId id="309" r:id="rId10"/>
    <p:sldId id="310" r:id="rId11"/>
    <p:sldId id="311" r:id="rId12"/>
    <p:sldId id="315" r:id="rId13"/>
    <p:sldId id="312" r:id="rId14"/>
    <p:sldId id="316" r:id="rId15"/>
    <p:sldId id="31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EB8B2D"/>
    <a:srgbClr val="000F24"/>
    <a:srgbClr val="FED8D8"/>
    <a:srgbClr val="343433"/>
    <a:srgbClr val="00294C"/>
    <a:srgbClr val="4C4D4C"/>
    <a:srgbClr val="636462"/>
    <a:srgbClr val="777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90B039-B811-C1BA-DE3F-29B08E8CC514}" v="88" dt="2026-01-28T19:48:39.403"/>
    <p1510:client id="{C66930CA-306A-4D3A-BDB0-0A5277EF6065}" v="2341" dt="2026-01-29T02:40:42.640"/>
    <p1510:client id="{FBDC9D4F-1472-4993-A252-4EEF009BFC46}" v="5028" dt="2026-01-29T02:40:26.935"/>
    <p1510:client id="{FD6E3B39-AF05-4009-1023-A7269FDDD3B1}" v="151" dt="2026-01-28T19:43:07.9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6327"/>
  </p:normalViewPr>
  <p:slideViewPr>
    <p:cSldViewPr snapToGrid="0">
      <p:cViewPr varScale="1">
        <p:scale>
          <a:sx n="117" d="100"/>
          <a:sy n="117" d="100"/>
        </p:scale>
        <p:origin x="19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F9A7093-B570-B193-D7A9-C5C63DBA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BD1486-6470-ADF8-DE88-7EFF4FFC6F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5FBCA-7827-204B-8916-3BD441F72BB8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AD9848-4544-6C88-D485-3E2FFA25B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54C57B-ECE4-849C-BD69-0C6CD30F61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2C0D7-0313-8748-AFD1-FE9CFDB25C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87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CE5A1-857B-214D-8BEE-AF65CEFCD544}" type="datetimeFigureOut">
              <a:rPr lang="de-DE" smtClean="0"/>
              <a:t>16.04.26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31BCB-E4CC-CD41-BF0E-941D9510A3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688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2CF24-C243-F0FD-6C66-0B7040EFC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4E2A879-6292-EC65-E7BD-5CF1D60C9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24116E3-4652-8CE9-72A4-AC55A9EB9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DE85E2-3CDD-2899-C878-E4C50A1D1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259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5A49-D101-D730-1A41-3CD5991E2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534E169-0664-ACD1-4B6A-1DD4D6144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0A3670D-8E88-DB7D-4C8A-E1F3A0A3A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E3C3FF-DCC8-E4FF-566D-A277C26BC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8968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BE1BB-1D01-6604-2402-9903C7291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28AFE24-3AB9-89D4-6F55-FB8F7FC24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0406558-05A4-704E-F620-42464ABCD6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4D836A-5614-CECF-FE5A-4061C1C6E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2105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DA4E3-3F2A-FF67-3CBE-A1FBE0E3B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0F883AE-4519-6F0A-B226-F04A50C7D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737D9C-4CD5-7BD8-EBFA-9231FA52C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99AFD0-EE9E-A102-BC35-C8159590A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966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B0EE-9DD1-B6A4-8A32-4C5AF2B3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DE5943D-32D0-6D2B-EFCB-D2BF26DEF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8532622-CDAB-4580-FF15-1699C8315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293B77-F14B-D111-ED04-020325E2E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429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FA11-26B4-28C8-6DFE-E0F0FD0AB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BD0F5D6-5CD7-2FF3-F6FD-5803BB3C4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B13AE57-EF74-0FA6-7159-E43DD7811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22199EB-04A1-A2A5-A4D1-8433BF0E3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54750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7E90A-DDB3-ECFF-E4AB-BC728B92B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A34C4AA-1461-3AB5-CB9F-B11A4D26F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1D18AF0-97B0-7895-ED33-E1EC39786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F9B02A5-1076-9242-E1DB-D6CC99338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2835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2E7C-B100-0559-7B6A-03C730A5F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6E60769-98B1-5496-6F8E-E436AB988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CE480E4-18DF-F26D-D931-9DB2E8F51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26C7F9-6DF1-1270-4D5F-1A952518C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59577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0212-FF44-9C5E-8DB9-7FFAFB4D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37EA58A-E56D-0E89-284A-BFD4055C6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4130679-865A-374B-29AE-E5C704051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DD9F7F-B23E-ED4D-7D2D-1CD6A853F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7799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A929-37BF-D4BF-A447-92D3E4CB5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B3B460-B63B-5287-1DA7-BE6307FCA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74337AB-755F-BB7A-E08A-7AC1C55A28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790653-1254-97D3-F33C-29519D810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66719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D0390-4488-0C48-6815-FF0B761B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87509FA-287C-95F0-40A6-E2993159A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39032A-7BAC-049D-3577-47C3001D8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7A245D-2363-661B-268D-F1DFA1375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1282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91008-51AE-04FC-2363-A98B5B9D6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36DBDA1-E8E9-7872-A294-084C350A7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2450383-4770-396C-9DCA-C55375B84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C7C1D1-4A46-74CA-4496-DE3C095833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5316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544CBE7-AFBB-1961-3EFC-905CC26E25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23705"/>
          <a:stretch/>
        </p:blipFill>
        <p:spPr>
          <a:xfrm>
            <a:off x="0" y="0"/>
            <a:ext cx="12240683" cy="525320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5533147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7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23FF5FB-C0BC-8FBF-E010-82C75F859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3" y="2624296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FB9842-8DFB-C8D2-DAF3-F9AEA1236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5407457"/>
            <a:ext cx="10561669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34343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1786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23FF5FB-C0BC-8FBF-E010-82C75F859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3" y="2624296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857560AF-62DA-685C-05D3-86EBDEF3A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5407457"/>
            <a:ext cx="10561669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34343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2439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FC01E-4815-58CB-245F-C6264A32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130142"/>
            <a:ext cx="10858029" cy="4746783"/>
          </a:xfr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F467342-6F17-B273-AB31-7550A6A2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08" y="332656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60C85B2-D425-5CFB-4251-19ED243B1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8966" y="6357537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E0B9212-D1C1-ADB0-2A92-B1D1B2B01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8836" y="6355278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97E50-EC1F-01A0-B1F3-70989E79E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1980" y="6357537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50AB66EA-4252-A34F-8970-2F6144F95B8E}" type="datetime1">
              <a:t>16.04.26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40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6763" y="1125538"/>
            <a:ext cx="5273191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F25E90-E439-A938-CC55-2C9384E72B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82000" y="1125538"/>
            <a:ext cx="5400748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4869B38-494B-4C89-A74E-D20229C10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2902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064C877-38F5-B23B-AB59-8521CEDEF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45A9A-4549-7291-C45E-B517A0EB5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BEA872-6F0E-93AD-97E6-4944DF48F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139D784D-5D9F-524A-9D3C-793471E294D2}" type="datetime1">
              <a:t>16.04.26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7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0970" y="1797050"/>
            <a:ext cx="5201331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0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3EBBEB-ABBC-395C-14A7-2F7F0FAE60BA}"/>
              </a:ext>
            </a:extLst>
          </p:cNvPr>
          <p:cNvSpPr txBox="1"/>
          <p:nvPr userDrawn="1"/>
        </p:nvSpPr>
        <p:spPr>
          <a:xfrm>
            <a:off x="888646" y="1126927"/>
            <a:ext cx="5083656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8689F5-31B5-F924-6649-EBD229A11FB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40174" y="1797050"/>
            <a:ext cx="5201331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0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en-US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CADC7D-CFAE-D0EC-0BBB-45D49E9E25BF}"/>
              </a:ext>
            </a:extLst>
          </p:cNvPr>
          <p:cNvSpPr txBox="1"/>
          <p:nvPr userDrawn="1"/>
        </p:nvSpPr>
        <p:spPr>
          <a:xfrm>
            <a:off x="6140173" y="1127050"/>
            <a:ext cx="5201331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FBFCFE1-A281-A2FB-6E30-43BF24D33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184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06CE9B-759F-824A-C20A-5E10A93E4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4663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CBACC-8192-9FCA-5352-7C6863BD1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2404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ACE8F90-C45D-8937-D1DB-0139A002D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4663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D6A4D6E8-04E4-FD44-9C37-7D4F8F481D24}" type="datetime1">
              <a:t>16.04.26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4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6321" y="1117234"/>
            <a:ext cx="6080753" cy="4756918"/>
          </a:xfr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0663" y="1120007"/>
            <a:ext cx="4538645" cy="4756918"/>
          </a:xfrm>
        </p:spPr>
        <p:txBody>
          <a:bodyPr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0A2F76-5FE6-A2C9-8158-0253A4B2F1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763" y="602259"/>
            <a:ext cx="1087851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2667" dirty="0">
                <a:solidFill>
                  <a:schemeClr val="accent1"/>
                </a:solidFill>
              </a:defRPr>
            </a:lvl1pPr>
          </a:lstStyle>
          <a:p>
            <a:pPr lvl="0"/>
            <a:br>
              <a:rPr lang="de-DE"/>
            </a:br>
            <a:r>
              <a:rPr lang="de-DE"/>
              <a:t>Mastertitelformat </a:t>
            </a:r>
            <a:br>
              <a:rPr lang="de-DE"/>
            </a:br>
            <a:r>
              <a:rPr lang="de-DE"/>
              <a:t>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95945F4-3FF9-3EFE-16B6-5F5982EA3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8957" y="6367937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C5FAE91-7171-D00B-D5B3-F231E3F8D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8827" y="6365678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3719207-9E67-A5A0-0AFB-800C561F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41971" y="6367937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49BFD160-2B84-A642-85D1-5DB904E0C295}" type="datetime1">
              <a:t>16.04.26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97428" y="1125538"/>
            <a:ext cx="6135295" cy="4751387"/>
          </a:xfrm>
        </p:spPr>
        <p:txBody>
          <a:bodyPr anchor="t"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C6A265-800A-43D6-2F98-C10611F54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3" y="1125538"/>
            <a:ext cx="4538645" cy="4751387"/>
          </a:xfrm>
        </p:spPr>
        <p:txBody>
          <a:bodyPr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54FDCCD-A5AF-88A5-9D20-108CCA7A4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19F5C56-FD7E-D515-80C0-7891D6A12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6BA88-315C-2F5A-C8CA-1B8CAE5AF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1B1380-8210-48A8-BB43-B42AD035E3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DFC56F55-7DF9-0449-AD31-611DE45B2140}" type="datetime1">
              <a:t>16.04.26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+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CD230031-93FC-50BC-76F9-90A026F087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1126928"/>
            <a:ext cx="10865960" cy="480053"/>
          </a:xfrm>
        </p:spPr>
        <p:txBody>
          <a:bodyPr>
            <a:normAutofit/>
          </a:bodyPr>
          <a:lstStyle>
            <a:lvl1pPr marL="0" indent="0" algn="l">
              <a:buNone/>
              <a:defRPr sz="1733">
                <a:solidFill>
                  <a:srgbClr val="4C4D4C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17648C-2661-BBE0-ED31-F8BFFFC21DA4}"/>
              </a:ext>
            </a:extLst>
          </p:cNvPr>
          <p:cNvSpPr txBox="1">
            <a:spLocks/>
          </p:cNvSpPr>
          <p:nvPr userDrawn="1"/>
        </p:nvSpPr>
        <p:spPr>
          <a:xfrm>
            <a:off x="959280" y="1797050"/>
            <a:ext cx="10865960" cy="105611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i="1">
                <a:solidFill>
                  <a:srgbClr val="4C4D4C"/>
                </a:solidFill>
                <a:latin typeface="+mn-lt"/>
              </a:rPr>
              <a:t>Zitat bearbeiten</a:t>
            </a:r>
            <a:endParaRPr lang="en-US" sz="2000" i="1">
              <a:solidFill>
                <a:srgbClr val="4C4D4C"/>
              </a:solidFill>
              <a:latin typeface="+mn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F1926AB-352B-1D01-2E4A-B42350233D4A}"/>
              </a:ext>
            </a:extLst>
          </p:cNvPr>
          <p:cNvSpPr txBox="1">
            <a:spLocks/>
          </p:cNvSpPr>
          <p:nvPr userDrawn="1"/>
        </p:nvSpPr>
        <p:spPr>
          <a:xfrm>
            <a:off x="766763" y="2949177"/>
            <a:ext cx="10849700" cy="292774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733">
                <a:solidFill>
                  <a:srgbClr val="4C4D4C"/>
                </a:solidFill>
              </a:rPr>
              <a:t>Mastertitelformat bearbeiten</a:t>
            </a:r>
            <a:endParaRPr lang="en-US" sz="1733">
              <a:solidFill>
                <a:srgbClr val="4C4D4C"/>
              </a:solidFill>
            </a:endParaRPr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66364703-4655-3A8A-7A24-521B94AB028D}"/>
              </a:ext>
            </a:extLst>
          </p:cNvPr>
          <p:cNvCxnSpPr/>
          <p:nvPr userDrawn="1"/>
        </p:nvCxnSpPr>
        <p:spPr>
          <a:xfrm>
            <a:off x="863269" y="1797050"/>
            <a:ext cx="0" cy="960107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D4537A4E-7ECF-DAE3-1691-53F73276F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9014802-BFAB-F5A2-B75F-9FB942E2C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AB30F97-4BE0-5CC1-D8E4-6176CBD1F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B5A1-CC77-7628-2F4B-D2EF0A0DF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07E6D906-5535-F748-B5B9-3FBB2E8A3576}" type="datetime1">
              <a:t>16.04.26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69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E1D3F9E-CCAE-4466-A283-C2A9F0F34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4663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  <a:endParaRPr lang="de-DE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CBFD8B5-A5D3-47AF-94BC-02440AFB0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2404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F82951B-5DE8-4179-9CDF-0C507218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0083" y="6354663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D695CA93-790F-8C4B-9A2C-2596004F62EC}" type="datetime1">
              <a:t>16.04.26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5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Social Media+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7090AD0-FD2A-CA7D-BBD5-5B2FCD0D8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240682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8C760-DE03-494A-86E3-7BEF8EE85842}" type="datetime1">
              <a:t>16.04.26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Lukas Blanck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8396C8-6250-4EB9-A9AF-4941536C768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0" y="0"/>
            <a:ext cx="12250813" cy="68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0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06" r:id="rId4"/>
    <p:sldLayoutId id="2147483708" r:id="rId5"/>
    <p:sldLayoutId id="2147483721" r:id="rId6"/>
    <p:sldLayoutId id="2147483712" r:id="rId7"/>
    <p:sldLayoutId id="2147483713" r:id="rId8"/>
    <p:sldLayoutId id="2147483714" r:id="rId9"/>
    <p:sldLayoutId id="2147483735" r:id="rId10"/>
    <p:sldLayoutId id="214748372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F26B43"/>
          </p15:clr>
        </p15:guide>
        <p15:guide id="2" pos="48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0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3EEE1C5-F540-4CDC-92A0-10DF1616D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Shallow Water Equations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67C4111-E4F0-479F-80F6-8BB16BD1CB1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68289" y="6100622"/>
            <a:ext cx="10560049" cy="586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500" noProof="0">
                <a:solidFill>
                  <a:srgbClr val="4C4D4C"/>
                </a:solidFill>
              </a:rPr>
              <a:t>AG: HPC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2020C8E-D6C1-0DB1-CBA5-7EC3660E52C8}"/>
              </a:ext>
            </a:extLst>
          </p:cNvPr>
          <p:cNvSpPr txBox="1"/>
          <p:nvPr/>
        </p:nvSpPr>
        <p:spPr>
          <a:xfrm>
            <a:off x="6084553" y="-11447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32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CF3EE29-4E60-5F3D-8376-0AA0746F6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39" y="1674054"/>
            <a:ext cx="12332677" cy="378760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5AC7507-0F91-B5DF-8E61-7F151204C95F}"/>
              </a:ext>
            </a:extLst>
          </p:cNvPr>
          <p:cNvSpPr txBox="1"/>
          <p:nvPr/>
        </p:nvSpPr>
        <p:spPr>
          <a:xfrm>
            <a:off x="9669517" y="6649950"/>
            <a:ext cx="27116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>
                <a:solidFill>
                  <a:schemeClr val="bg1">
                    <a:lumMod val="75000"/>
                  </a:schemeClr>
                </a:solidFill>
              </a:rPr>
              <a:t>https://www.freevector.com/water-ripples-vector</a:t>
            </a:r>
          </a:p>
        </p:txBody>
      </p:sp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E08AC669-A846-4932-8A9C-BCB64DB10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Shallow Water Equations (SWE)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7F5EE33-65E8-40A5-B6A0-D333CBE01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183C089-AF36-0F58-426F-942C6DA38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CD8401-220E-BAD8-0894-A9DF73E3A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D47FF1A-04A0-F28C-72E7-EBF3BBA0FD62}"/>
              </a:ext>
            </a:extLst>
          </p:cNvPr>
          <p:cNvSpPr/>
          <p:nvPr/>
        </p:nvSpPr>
        <p:spPr>
          <a:xfrm>
            <a:off x="2330308" y="3002382"/>
            <a:ext cx="347472" cy="512064"/>
          </a:xfrm>
          <a:prstGeom prst="chevron">
            <a:avLst/>
          </a:prstGeom>
          <a:solidFill>
            <a:srgbClr val="E6EEF4"/>
          </a:solidFill>
          <a:ln w="12700">
            <a:solidFill>
              <a:srgbClr val="BFCF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72F2EBE-907E-CE2A-F53B-5FFF453851CA}"/>
              </a:ext>
            </a:extLst>
          </p:cNvPr>
          <p:cNvSpPr/>
          <p:nvPr/>
        </p:nvSpPr>
        <p:spPr>
          <a:xfrm>
            <a:off x="4807806" y="3002382"/>
            <a:ext cx="347472" cy="512064"/>
          </a:xfrm>
          <a:prstGeom prst="chevron">
            <a:avLst/>
          </a:prstGeom>
          <a:solidFill>
            <a:srgbClr val="E6EEF4"/>
          </a:solidFill>
          <a:ln w="12700">
            <a:solidFill>
              <a:srgbClr val="BFCF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94F5657B-6FD7-639F-8B79-4A9B0F9B963B}"/>
              </a:ext>
            </a:extLst>
          </p:cNvPr>
          <p:cNvSpPr/>
          <p:nvPr/>
        </p:nvSpPr>
        <p:spPr>
          <a:xfrm>
            <a:off x="7316832" y="3002382"/>
            <a:ext cx="347472" cy="512064"/>
          </a:xfrm>
          <a:prstGeom prst="chevron">
            <a:avLst/>
          </a:prstGeom>
          <a:solidFill>
            <a:srgbClr val="E6EEF4"/>
          </a:solidFill>
          <a:ln w="12700">
            <a:solidFill>
              <a:srgbClr val="BFCF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E88C9EEE-E31C-F01D-007B-7790FAFB7000}"/>
              </a:ext>
            </a:extLst>
          </p:cNvPr>
          <p:cNvSpPr/>
          <p:nvPr/>
        </p:nvSpPr>
        <p:spPr>
          <a:xfrm>
            <a:off x="9710247" y="3002382"/>
            <a:ext cx="347472" cy="512064"/>
          </a:xfrm>
          <a:prstGeom prst="chevron">
            <a:avLst/>
          </a:prstGeom>
          <a:solidFill>
            <a:srgbClr val="E6EEF4"/>
          </a:solidFill>
          <a:ln w="12700">
            <a:solidFill>
              <a:srgbClr val="BFCFD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53EFF49F-8937-FA2B-A606-51239F1783D3}"/>
              </a:ext>
            </a:extLst>
          </p:cNvPr>
          <p:cNvSpPr/>
          <p:nvPr/>
        </p:nvSpPr>
        <p:spPr>
          <a:xfrm>
            <a:off x="313688" y="2448910"/>
            <a:ext cx="1903003" cy="1639609"/>
          </a:xfrm>
          <a:prstGeom prst="roundRect">
            <a:avLst>
              <a:gd name="adj" fmla="val 5405"/>
            </a:avLst>
          </a:prstGeom>
          <a:solidFill>
            <a:srgbClr val="DCEEF8"/>
          </a:solidFill>
          <a:ln w="15240">
            <a:solidFill>
              <a:srgbClr val="2A6F9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0DCF4FA-DECC-BD56-6C6F-5E2175ED3398}"/>
              </a:ext>
            </a:extLst>
          </p:cNvPr>
          <p:cNvSpPr/>
          <p:nvPr/>
        </p:nvSpPr>
        <p:spPr>
          <a:xfrm>
            <a:off x="397770" y="2709774"/>
            <a:ext cx="1624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3047"/>
                </a:solidFill>
              </a:rPr>
              <a:t>Navier-Stokes</a:t>
            </a:r>
            <a:endParaRPr lang="en-US" sz="20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ECED05D1-5632-270C-6B3F-20B472D04FB8}"/>
              </a:ext>
            </a:extLst>
          </p:cNvPr>
          <p:cNvSpPr/>
          <p:nvPr/>
        </p:nvSpPr>
        <p:spPr>
          <a:xfrm>
            <a:off x="362892" y="3185262"/>
            <a:ext cx="18006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16273"/>
                </a:solidFill>
              </a:rPr>
              <a:t>Approximations</a:t>
            </a:r>
            <a:endParaRPr lang="en-US" sz="14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7FC92677-2C8F-8EF6-45EE-F13C9801C764}"/>
              </a:ext>
            </a:extLst>
          </p:cNvPr>
          <p:cNvSpPr/>
          <p:nvPr/>
        </p:nvSpPr>
        <p:spPr>
          <a:xfrm>
            <a:off x="2791186" y="2448910"/>
            <a:ext cx="1903003" cy="1639609"/>
          </a:xfrm>
          <a:prstGeom prst="roundRect">
            <a:avLst>
              <a:gd name="adj" fmla="val 5405"/>
            </a:avLst>
          </a:prstGeom>
          <a:solidFill>
            <a:srgbClr val="DFF3F0"/>
          </a:solidFill>
          <a:ln w="15240">
            <a:solidFill>
              <a:srgbClr val="3FA7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4D657A01-0ADF-E77B-BCD4-10724A7C4911}"/>
              </a:ext>
            </a:extLst>
          </p:cNvPr>
          <p:cNvSpPr/>
          <p:nvPr/>
        </p:nvSpPr>
        <p:spPr>
          <a:xfrm>
            <a:off x="2875268" y="2709774"/>
            <a:ext cx="1624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3047"/>
                </a:solidFill>
              </a:rPr>
              <a:t>SWE</a:t>
            </a:r>
            <a:endParaRPr lang="en-US" sz="20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AF6797B-7415-0B17-D782-3D2DE70DD0A8}"/>
              </a:ext>
            </a:extLst>
          </p:cNvPr>
          <p:cNvSpPr/>
          <p:nvPr/>
        </p:nvSpPr>
        <p:spPr>
          <a:xfrm>
            <a:off x="2840390" y="3185262"/>
            <a:ext cx="18006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647B9780-2808-BE16-6EA9-D84F67FA3CD6}"/>
              </a:ext>
            </a:extLst>
          </p:cNvPr>
          <p:cNvSpPr/>
          <p:nvPr/>
        </p:nvSpPr>
        <p:spPr>
          <a:xfrm>
            <a:off x="5268680" y="2448910"/>
            <a:ext cx="1903003" cy="1639609"/>
          </a:xfrm>
          <a:prstGeom prst="roundRect">
            <a:avLst>
              <a:gd name="adj" fmla="val 5405"/>
            </a:avLst>
          </a:prstGeom>
          <a:solidFill>
            <a:srgbClr val="EAF0FB"/>
          </a:solidFill>
          <a:ln w="1524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727E5674-2D38-EDB8-D7D1-73B4C58677FA}"/>
              </a:ext>
            </a:extLst>
          </p:cNvPr>
          <p:cNvSpPr/>
          <p:nvPr/>
        </p:nvSpPr>
        <p:spPr>
          <a:xfrm>
            <a:off x="5352762" y="2709774"/>
            <a:ext cx="1624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/>
              <a:t>Domain/BC</a:t>
            </a:r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7C094B91-97AF-CD55-C6E0-59DCABCA7417}"/>
              </a:ext>
            </a:extLst>
          </p:cNvPr>
          <p:cNvSpPr/>
          <p:nvPr/>
        </p:nvSpPr>
        <p:spPr>
          <a:xfrm>
            <a:off x="5317884" y="3185262"/>
            <a:ext cx="18006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16273"/>
                </a:solidFill>
              </a:rPr>
              <a:t>Structured Grid</a:t>
            </a:r>
            <a:endParaRPr lang="en-US" sz="140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F4EC9331-2898-F927-D8A5-08A08361683E}"/>
              </a:ext>
            </a:extLst>
          </p:cNvPr>
          <p:cNvSpPr/>
          <p:nvPr/>
        </p:nvSpPr>
        <p:spPr>
          <a:xfrm>
            <a:off x="7725155" y="2448910"/>
            <a:ext cx="1903003" cy="1639609"/>
          </a:xfrm>
          <a:prstGeom prst="roundRect">
            <a:avLst>
              <a:gd name="adj" fmla="val 5405"/>
            </a:avLst>
          </a:prstGeom>
          <a:solidFill>
            <a:srgbClr val="F4F8EA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B3B29E41-17C9-A62A-8552-AE32DEF25A18}"/>
              </a:ext>
            </a:extLst>
          </p:cNvPr>
          <p:cNvSpPr/>
          <p:nvPr/>
        </p:nvSpPr>
        <p:spPr>
          <a:xfrm>
            <a:off x="7809237" y="2709774"/>
            <a:ext cx="1624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53047"/>
                </a:solidFill>
              </a:rPr>
              <a:t>Solver</a:t>
            </a:r>
            <a:endParaRPr lang="en-US" sz="20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A2EE8BF6-7732-13E8-7F3B-1120FF4688A5}"/>
              </a:ext>
            </a:extLst>
          </p:cNvPr>
          <p:cNvSpPr/>
          <p:nvPr/>
        </p:nvSpPr>
        <p:spPr>
          <a:xfrm>
            <a:off x="7774359" y="3185262"/>
            <a:ext cx="18006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516273"/>
                </a:solidFill>
              </a:rPr>
              <a:t>Finite Volume</a:t>
            </a:r>
          </a:p>
          <a:p>
            <a:pPr algn="ctr"/>
            <a:r>
              <a:rPr lang="en-US" sz="1400" dirty="0">
                <a:solidFill>
                  <a:srgbClr val="516273"/>
                </a:solidFill>
              </a:rPr>
              <a:t>High Order</a:t>
            </a:r>
          </a:p>
        </p:txBody>
      </p:sp>
      <p:sp>
        <p:nvSpPr>
          <p:cNvPr id="28" name="Shape 20">
            <a:extLst>
              <a:ext uri="{FF2B5EF4-FFF2-40B4-BE49-F238E27FC236}">
                <a16:creationId xmlns:a16="http://schemas.microsoft.com/office/drawing/2014/main" id="{464A0BC8-43B1-A7D5-5C1C-B995B8AD1DC5}"/>
              </a:ext>
            </a:extLst>
          </p:cNvPr>
          <p:cNvSpPr/>
          <p:nvPr/>
        </p:nvSpPr>
        <p:spPr>
          <a:xfrm>
            <a:off x="10171123" y="2448910"/>
            <a:ext cx="1903003" cy="1639609"/>
          </a:xfrm>
          <a:prstGeom prst="roundRect">
            <a:avLst>
              <a:gd name="adj" fmla="val 5405"/>
            </a:avLst>
          </a:prstGeom>
          <a:solidFill>
            <a:srgbClr val="FFF5DA"/>
          </a:solidFill>
          <a:ln w="15240">
            <a:solidFill>
              <a:srgbClr val="E8B9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00BB38C9-F47A-C0A7-85C4-22A5C31EDE32}"/>
              </a:ext>
            </a:extLst>
          </p:cNvPr>
          <p:cNvSpPr/>
          <p:nvPr/>
        </p:nvSpPr>
        <p:spPr>
          <a:xfrm>
            <a:off x="10255205" y="2709774"/>
            <a:ext cx="16243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53047"/>
                </a:solidFill>
              </a:rPr>
              <a:t>HPC</a:t>
            </a:r>
            <a:endParaRPr lang="en-US" sz="200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66EAF8E3-C52C-27E6-9B65-EA1323FA120A}"/>
              </a:ext>
            </a:extLst>
          </p:cNvPr>
          <p:cNvSpPr/>
          <p:nvPr/>
        </p:nvSpPr>
        <p:spPr>
          <a:xfrm>
            <a:off x="10220327" y="3185262"/>
            <a:ext cx="18006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516273"/>
                </a:solidFill>
              </a:rPr>
              <a:t>Scalability</a:t>
            </a:r>
          </a:p>
          <a:p>
            <a:pPr algn="ctr"/>
            <a:r>
              <a:rPr lang="en-US" sz="1400" dirty="0">
                <a:solidFill>
                  <a:srgbClr val="516273"/>
                </a:solidFill>
              </a:rPr>
              <a:t>Parallelization</a:t>
            </a:r>
            <a:endParaRPr lang="en-US" sz="14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CF5B5218-A3FD-7332-7B32-61D0FC231A1A}"/>
              </a:ext>
            </a:extLst>
          </p:cNvPr>
          <p:cNvSpPr/>
          <p:nvPr/>
        </p:nvSpPr>
        <p:spPr>
          <a:xfrm>
            <a:off x="2834264" y="3185262"/>
            <a:ext cx="18006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516273"/>
                </a:solidFill>
              </a:rPr>
              <a:t>Source Terms</a:t>
            </a:r>
          </a:p>
        </p:txBody>
      </p:sp>
    </p:spTree>
    <p:extLst>
      <p:ext uri="{BB962C8B-B14F-4D97-AF65-F5344CB8AC3E}">
        <p14:creationId xmlns:p14="http://schemas.microsoft.com/office/powerpoint/2010/main" val="328781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6DA1D-441A-83D7-29F1-9DBD2A97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821178AD-F053-9B50-121C-30A8A5DFD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AT" b="1" i="1"/>
                  <a:t>Mass conservation:</a:t>
                </a:r>
              </a:p>
              <a:p>
                <a:pPr marL="0" indent="0">
                  <a:buNone/>
                </a:pPr>
                <a:r>
                  <a:rPr lang="de-AT" b="1" i="1"/>
                  <a:t>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b="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 +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b="1">
                        <a:latin typeface="Cambria Math" panose="02040503050406030204" pitchFamily="18" charset="0"/>
                      </a:rPr>
                      <m:t>𝛁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)=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Momentum conservation:</a:t>
                </a:r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de-AT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de-AT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1">
                        <a:latin typeface="Cambria Math" panose="02040503050406030204" pitchFamily="18" charset="0"/>
                      </a:rPr>
                      <m:t>𝛁</m:t>
                    </m:r>
                    <m:r>
                      <a:rPr lang="de-AT" b="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⊗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de-AT" b="0" i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𝛁</m:t>
                    </m:r>
                    <m:r>
                      <m:rPr>
                        <m:sty m:val="p"/>
                      </m:rPr>
                      <a:rPr lang="de-AT" b="0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de-AT" b="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1">
                        <a:latin typeface="Cambria Math" panose="02040503050406030204" pitchFamily="18" charset="0"/>
                      </a:rPr>
                      <m:t>𝛁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de-AT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AT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de-AT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</m:oMath>
                </a14:m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i="1"/>
                  <a:t>Terminology:</a:t>
                </a:r>
              </a:p>
              <a:p>
                <a:pPr marL="0" indent="0">
                  <a:buNone/>
                </a:pPr>
                <a:r>
                  <a:rPr lang="de-AT" i="1"/>
                  <a:t>	- </a:t>
                </a:r>
                <a14:m>
                  <m:oMath xmlns:m="http://schemas.openxmlformats.org/officeDocument/2006/math">
                    <m:r>
                      <a:rPr lang="de-AT" b="0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de-AT" i="1"/>
                  <a:t>: fluid density					</a:t>
                </a:r>
              </a:p>
              <a:p>
                <a:pPr marL="0" indent="0">
                  <a:buNone/>
                </a:pPr>
                <a:r>
                  <a:rPr lang="de-AT" i="1"/>
                  <a:t>	- </a:t>
                </a:r>
                <a14:m>
                  <m:oMath xmlns:m="http://schemas.openxmlformats.org/officeDocument/2006/math">
                    <m:r>
                      <a:rPr lang="de-AT" b="1" i="1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de-AT" i="1"/>
                  <a:t>: velocity field</a:t>
                </a:r>
              </a:p>
              <a:p>
                <a:pPr marL="0" indent="0">
                  <a:buNone/>
                </a:pPr>
                <a:r>
                  <a:rPr lang="de-AT" i="1"/>
                  <a:t>	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de-AT" i="1"/>
                  <a:t>: pressure</a:t>
                </a:r>
              </a:p>
              <a:p>
                <a:pPr marL="0" indent="0">
                  <a:buNone/>
                </a:pPr>
                <a:r>
                  <a:rPr lang="de-AT" i="1"/>
                  <a:t>	-</a:t>
                </a:r>
                <a14:m>
                  <m:oMath xmlns:m="http://schemas.openxmlformats.org/officeDocument/2006/math">
                    <m:r>
                      <a:rPr lang="de-AT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de-AT" i="1"/>
                  <a:t>: stress tensor</a:t>
                </a:r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</p:txBody>
          </p:sp>
        </mc:Choice>
        <mc:Fallback xmlns="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821178AD-F053-9B50-121C-30A8A5DFD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50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el 21">
            <a:extLst>
              <a:ext uri="{FF2B5EF4-FFF2-40B4-BE49-F238E27FC236}">
                <a16:creationId xmlns:a16="http://schemas.microsoft.com/office/drawing/2014/main" id="{8DF32B6F-CF42-848B-A56C-1C717C5515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Navier Stokes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BA371A5-0E39-FF4F-F03D-6B6518FAC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060C8F6-08CA-CFE5-71D5-05D84EC81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022AF5-04AB-9485-4D3A-9694BD14D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740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57FC5-8711-2F11-6588-283FA653E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E1DB9516-8CEA-A77B-31D3-C3F66477C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AT" b="1" i="1"/>
                  <a:t>Approximations:</a:t>
                </a:r>
              </a:p>
              <a:p>
                <a:pPr marL="0" indent="0">
                  <a:buNone/>
                </a:pPr>
                <a:r>
                  <a:rPr lang="de-AT" b="1" i="1"/>
                  <a:t>		(1)	Constant density: 	</a:t>
                </a:r>
                <a14:m>
                  <m:oMath xmlns:m="http://schemas.openxmlformats.org/officeDocument/2006/math">
                    <m:r>
                      <a:rPr lang="de-AT" b="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AT" i="1"/>
                  <a:t>const.</a:t>
                </a:r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		(2)           </a:t>
                </a:r>
                <a:r>
                  <a:rPr lang="de-AT" b="1"/>
                  <a:t> Newtonian fluid:	</a:t>
                </a:r>
                <a14:m>
                  <m:oMath xmlns:m="http://schemas.openxmlformats.org/officeDocument/2006/math">
                    <m:r>
                      <a:rPr lang="de-AT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∝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𝛁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de-AT" b="1" i="1"/>
                  <a:t> ,   </a:t>
                </a:r>
                <a14:m>
                  <m:oMath xmlns:m="http://schemas.openxmlformats.org/officeDocument/2006/math">
                    <m:r>
                      <a:rPr lang="de-AT" b="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de-AT" i="1"/>
                  <a:t>const.</a:t>
                </a: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Navier Stokes (v2):</a:t>
                </a:r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r>
                      <a:rPr lang="de-AT" b="0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0" i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𝛁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de-AT" b="0" i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𝛁</m:t>
                    </m:r>
                    <m:r>
                      <m:rPr>
                        <m:sty m:val="p"/>
                      </m:rPr>
                      <a:rPr lang="de-AT" b="0" i="0">
                        <a:latin typeface="Cambria Math" panose="02040503050406030204" pitchFamily="18" charset="0"/>
                      </a:rPr>
                      <m:t>p</m:t>
                    </m:r>
                    <m:r>
                      <a:rPr lang="de-AT" b="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de-AT" b="1">
                        <a:latin typeface="Cambria Math" panose="02040503050406030204" pitchFamily="18" charset="0"/>
                      </a:rPr>
                      <m:t>𝛁</m:t>
                    </m:r>
                    <m:r>
                      <a:rPr lang="de-AT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de-AT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AT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de-AT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𝒈</m:t>
                    </m:r>
                  </m:oMath>
                </a14:m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</p:txBody>
          </p:sp>
        </mc:Choice>
        <mc:Fallback xmlns="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E1DB9516-8CEA-A77B-31D3-C3F66477C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50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el 21">
            <a:extLst>
              <a:ext uri="{FF2B5EF4-FFF2-40B4-BE49-F238E27FC236}">
                <a16:creationId xmlns:a16="http://schemas.microsoft.com/office/drawing/2014/main" id="{5A775AFB-7DBA-0DF6-4C6E-22A6FC70D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Navier Stokes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EEF1DDB-830F-EA0F-1D51-D185062FC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F1AAA4E-DC89-BF2C-0AD7-45FAC1A93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B73EDC-98F2-DB53-111A-2BDD53049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211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9676E-B3E2-C57C-F226-CC094FCC5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5A420C19-F702-20AA-7378-3094B3F3DA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AT" b="1" i="1"/>
                  <a:t>Approximations:</a:t>
                </a:r>
              </a:p>
              <a:p>
                <a:pPr marL="0" indent="0">
                  <a:buNone/>
                </a:pPr>
                <a:r>
                  <a:rPr lang="de-AT" b="1" i="1"/>
                  <a:t>		(3)	 Shallow Domain: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AT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de-AT" b="1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de-AT" b="1" i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de-AT" b="0" i="0">
                        <a:latin typeface="Cambria Math" panose="02040503050406030204" pitchFamily="18" charset="0"/>
                      </a:rPr>
                      <m:t>  1 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		(4) 	 Velocity scaling: 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de-AT" i="1"/>
              </a:p>
              <a:p>
                <a:pPr marL="0" indent="0">
                  <a:buNone/>
                </a:pPr>
                <a:endParaRPr lang="de-AT" i="1"/>
              </a:p>
              <a:p>
                <a:pPr marL="0" indent="0">
                  <a:buNone/>
                </a:pPr>
                <a:r>
                  <a:rPr lang="de-AT" i="1"/>
                  <a:t>		</a:t>
                </a:r>
                <a:r>
                  <a:rPr lang="de-AT" b="1" i="1"/>
                  <a:t>(5) </a:t>
                </a:r>
                <a:r>
                  <a:rPr lang="de-AT" i="1"/>
                  <a:t>	</a:t>
                </a:r>
                <a:r>
                  <a:rPr lang="de-AT" b="1" i="1"/>
                  <a:t> Hydrostatic balance: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		</a:t>
                </a:r>
              </a:p>
              <a:p>
                <a:pPr marL="0" indent="0">
                  <a:buNone/>
                </a:pPr>
                <a:r>
                  <a:rPr lang="de-AT" b="1" i="1"/>
                  <a:t>		(6) 	Depth Average: 		</a:t>
                </a:r>
                <a14:m>
                  <m:oMath xmlns:m="http://schemas.openxmlformats.org/officeDocument/2006/math">
                    <m:r>
                      <a:rPr lang="de-AT" b="1" i="1">
                        <a:latin typeface="Cambria Math" panose="02040503050406030204" pitchFamily="18" charset="0"/>
                      </a:rPr>
                      <m:t>𝒖</m:t>
                    </m:r>
                    <m:d>
                      <m:dPr>
                        <m:ctrlPr>
                          <a:rPr lang="de-AT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AT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AT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de-AT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AT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 </m:t>
                    </m:r>
                    <m:acc>
                      <m:accPr>
                        <m:chr m:val="̂"/>
                        <m:ctrlPr>
                          <a:rPr lang="de-AT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AT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a:rPr lang="de-AT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AT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de-AT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de-AT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de-AT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de-AT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de-AT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</p:txBody>
          </p:sp>
        </mc:Choice>
        <mc:Fallback xmlns="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5A420C19-F702-20AA-7378-3094B3F3D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50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el 21">
            <a:extLst>
              <a:ext uri="{FF2B5EF4-FFF2-40B4-BE49-F238E27FC236}">
                <a16:creationId xmlns:a16="http://schemas.microsoft.com/office/drawing/2014/main" id="{E9C55CF2-97F3-2C59-2A05-D3D15C237A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Navier Stokes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000223B-4847-187F-C0A1-1EFD2EE0A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3DFB52E-1744-7683-97E3-11E00DE1E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341913-BB65-4840-A77B-09F3CE66F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5</a:t>
            </a:fld>
            <a:endParaRPr lang="de-DE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ED33337B-332D-77E4-29AE-CE3B3F589C35}"/>
              </a:ext>
            </a:extLst>
          </p:cNvPr>
          <p:cNvCxnSpPr>
            <a:cxnSpLocks/>
          </p:cNvCxnSpPr>
          <p:nvPr/>
        </p:nvCxnSpPr>
        <p:spPr>
          <a:xfrm>
            <a:off x="946927" y="5727858"/>
            <a:ext cx="4498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898D7F24-66C5-37D4-5E95-7B2162DFDB7F}"/>
              </a:ext>
            </a:extLst>
          </p:cNvPr>
          <p:cNvCxnSpPr>
            <a:cxnSpLocks/>
          </p:cNvCxnSpPr>
          <p:nvPr/>
        </p:nvCxnSpPr>
        <p:spPr>
          <a:xfrm flipV="1">
            <a:off x="946927" y="4056713"/>
            <a:ext cx="0" cy="167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1A657908-607B-E71C-8CB6-98BC3BF0A0BA}"/>
              </a:ext>
            </a:extLst>
          </p:cNvPr>
          <p:cNvCxnSpPr>
            <a:cxnSpLocks/>
          </p:cNvCxnSpPr>
          <p:nvPr/>
        </p:nvCxnSpPr>
        <p:spPr>
          <a:xfrm>
            <a:off x="946927" y="4732154"/>
            <a:ext cx="4423860" cy="0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94E6EA2F-FDB4-8E94-6F9F-2FEED5C26076}"/>
                  </a:ext>
                </a:extLst>
              </p:cNvPr>
              <p:cNvSpPr txBox="1"/>
              <p:nvPr/>
            </p:nvSpPr>
            <p:spPr>
              <a:xfrm>
                <a:off x="5153972" y="5827099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94E6EA2F-FDB4-8E94-6F9F-2FEED5C26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3972" y="5827099"/>
                <a:ext cx="181075" cy="276999"/>
              </a:xfrm>
              <a:prstGeom prst="rect">
                <a:avLst/>
              </a:prstGeom>
              <a:blipFill>
                <a:blip r:embed="rId4"/>
                <a:stretch>
                  <a:fillRect l="-25000" r="-18750" b="-43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C68150A8-A2FB-DCA9-1424-22FDAE1A73EC}"/>
                  </a:ext>
                </a:extLst>
              </p:cNvPr>
              <p:cNvSpPr txBox="1"/>
              <p:nvPr/>
            </p:nvSpPr>
            <p:spPr>
              <a:xfrm>
                <a:off x="1566042" y="5072054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C68150A8-A2FB-DCA9-1424-22FDAE1A7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042" y="5072054"/>
                <a:ext cx="227948" cy="276999"/>
              </a:xfrm>
              <a:prstGeom prst="rect">
                <a:avLst/>
              </a:prstGeom>
              <a:blipFill>
                <a:blip r:embed="rId5"/>
                <a:stretch>
                  <a:fillRect l="-21053" r="-15789" b="-9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91213BD2-5A86-F26D-1F89-07F35CC454EB}"/>
              </a:ext>
            </a:extLst>
          </p:cNvPr>
          <p:cNvCxnSpPr>
            <a:cxnSpLocks/>
          </p:cNvCxnSpPr>
          <p:nvPr/>
        </p:nvCxnSpPr>
        <p:spPr>
          <a:xfrm>
            <a:off x="1566042" y="4732154"/>
            <a:ext cx="0" cy="995704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Freihandform 20">
            <a:extLst>
              <a:ext uri="{FF2B5EF4-FFF2-40B4-BE49-F238E27FC236}">
                <a16:creationId xmlns:a16="http://schemas.microsoft.com/office/drawing/2014/main" id="{54762D33-9D17-F529-DB04-21B44898AFD6}"/>
              </a:ext>
            </a:extLst>
          </p:cNvPr>
          <p:cNvSpPr/>
          <p:nvPr/>
        </p:nvSpPr>
        <p:spPr>
          <a:xfrm>
            <a:off x="956442" y="4360691"/>
            <a:ext cx="4225159" cy="358557"/>
          </a:xfrm>
          <a:custGeom>
            <a:avLst/>
            <a:gdLst>
              <a:gd name="csX0" fmla="*/ 0 w 4225159"/>
              <a:gd name="csY0" fmla="*/ 337153 h 358557"/>
              <a:gd name="csX1" fmla="*/ 430924 w 4225159"/>
              <a:gd name="csY1" fmla="*/ 274091 h 358557"/>
              <a:gd name="csX2" fmla="*/ 893379 w 4225159"/>
              <a:gd name="csY2" fmla="*/ 822 h 358557"/>
              <a:gd name="csX3" fmla="*/ 1408386 w 4225159"/>
              <a:gd name="csY3" fmla="*/ 221539 h 358557"/>
              <a:gd name="csX4" fmla="*/ 1891862 w 4225159"/>
              <a:gd name="csY4" fmla="*/ 11332 h 358557"/>
              <a:gd name="csX5" fmla="*/ 2385848 w 4225159"/>
              <a:gd name="csY5" fmla="*/ 253070 h 358557"/>
              <a:gd name="csX6" fmla="*/ 2900855 w 4225159"/>
              <a:gd name="csY6" fmla="*/ 822 h 358557"/>
              <a:gd name="csX7" fmla="*/ 3331779 w 4225159"/>
              <a:gd name="csY7" fmla="*/ 358174 h 358557"/>
              <a:gd name="csX8" fmla="*/ 3731173 w 4225159"/>
              <a:gd name="csY8" fmla="*/ 74394 h 358557"/>
              <a:gd name="csX9" fmla="*/ 4225159 w 4225159"/>
              <a:gd name="csY9" fmla="*/ 295112 h 358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5159" h="358557">
                <a:moveTo>
                  <a:pt x="0" y="337153"/>
                </a:moveTo>
                <a:cubicBezTo>
                  <a:pt x="141014" y="333649"/>
                  <a:pt x="282028" y="330146"/>
                  <a:pt x="430924" y="274091"/>
                </a:cubicBezTo>
                <a:cubicBezTo>
                  <a:pt x="579821" y="218036"/>
                  <a:pt x="730469" y="9581"/>
                  <a:pt x="893379" y="822"/>
                </a:cubicBezTo>
                <a:cubicBezTo>
                  <a:pt x="1056289" y="-7937"/>
                  <a:pt x="1241972" y="219787"/>
                  <a:pt x="1408386" y="221539"/>
                </a:cubicBezTo>
                <a:cubicBezTo>
                  <a:pt x="1574800" y="223291"/>
                  <a:pt x="1728952" y="6077"/>
                  <a:pt x="1891862" y="11332"/>
                </a:cubicBezTo>
                <a:cubicBezTo>
                  <a:pt x="2054772" y="16587"/>
                  <a:pt x="2217683" y="254822"/>
                  <a:pt x="2385848" y="253070"/>
                </a:cubicBezTo>
                <a:cubicBezTo>
                  <a:pt x="2554013" y="251318"/>
                  <a:pt x="2743200" y="-16695"/>
                  <a:pt x="2900855" y="822"/>
                </a:cubicBezTo>
                <a:cubicBezTo>
                  <a:pt x="3058510" y="18339"/>
                  <a:pt x="3193393" y="345912"/>
                  <a:pt x="3331779" y="358174"/>
                </a:cubicBezTo>
                <a:cubicBezTo>
                  <a:pt x="3470165" y="370436"/>
                  <a:pt x="3582276" y="84904"/>
                  <a:pt x="3731173" y="74394"/>
                </a:cubicBezTo>
                <a:cubicBezTo>
                  <a:pt x="3880070" y="63884"/>
                  <a:pt x="4052614" y="179498"/>
                  <a:pt x="4225159" y="295112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3151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BAA69-D016-3563-62DF-ADAD6D18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4E0AB513-12A9-0E92-F6E0-E6B8822CB8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AT" b="1" i="1"/>
                  <a:t>Mass conservation:</a:t>
                </a:r>
              </a:p>
              <a:p>
                <a:pPr marL="0" indent="0">
                  <a:buNone/>
                </a:pPr>
                <a:r>
                  <a:rPr lang="de-AT" b="1" i="1"/>
                  <a:t>			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h𝑢</m:t>
                        </m:r>
                      </m:e>
                    </m:d>
                    <m:r>
                      <a:rPr lang="de-AT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h𝑣</m:t>
                        </m:r>
                      </m:e>
                    </m:d>
                    <m:r>
                      <a:rPr lang="de-AT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endParaRPr lang="de-AT" i="1"/>
              </a:p>
              <a:p>
                <a:pPr marL="0" indent="0">
                  <a:buNone/>
                </a:pPr>
                <a:r>
                  <a:rPr lang="de-AT" b="1" i="1"/>
                  <a:t>Momentum conservation:</a:t>
                </a:r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de-AT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AT" b="0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de-AT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AT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AT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de-AT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b="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de-AT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𝑢𝑣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h𝑣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de-AT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AT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AT" i="1"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𝑢𝑣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</p:txBody>
          </p:sp>
        </mc:Choice>
        <mc:Fallback xmlns="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4E0AB513-12A9-0E92-F6E0-E6B8822CB8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50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el 21">
            <a:extLst>
              <a:ext uri="{FF2B5EF4-FFF2-40B4-BE49-F238E27FC236}">
                <a16:creationId xmlns:a16="http://schemas.microsoft.com/office/drawing/2014/main" id="{61C3C67A-EE47-004D-0D4D-FC402C5354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Shallow Water Equations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1C974BB-0DD2-D294-0CA7-61CEB1C83C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BA2E7B-55B6-EB07-E49E-59B2DABD18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AC6043-22D2-2199-1737-D584DAB417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6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C19C8D2B-1A48-9EAA-21CB-2863B8F87790}"/>
                  </a:ext>
                </a:extLst>
              </p:cNvPr>
              <p:cNvSpPr txBox="1"/>
              <p:nvPr/>
            </p:nvSpPr>
            <p:spPr>
              <a:xfrm>
                <a:off x="8702925" y="810493"/>
                <a:ext cx="857927" cy="471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de-AT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AT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AT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AT" b="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AT" b="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b="1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C19C8D2B-1A48-9EAA-21CB-2863B8F87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925" y="810493"/>
                <a:ext cx="857927" cy="471796"/>
              </a:xfrm>
              <a:prstGeom prst="rect">
                <a:avLst/>
              </a:prstGeom>
              <a:blipFill>
                <a:blip r:embed="rId4"/>
                <a:stretch>
                  <a:fillRect l="-2941" b="-131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8FDA0F4E-3A2C-862B-5656-E5D0D13EE0D8}"/>
              </a:ext>
            </a:extLst>
          </p:cNvPr>
          <p:cNvCxnSpPr>
            <a:cxnSpLocks/>
          </p:cNvCxnSpPr>
          <p:nvPr/>
        </p:nvCxnSpPr>
        <p:spPr>
          <a:xfrm>
            <a:off x="1020500" y="5612244"/>
            <a:ext cx="4498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2982BA15-5A7F-D876-AAE2-C2FA26BE63BC}"/>
              </a:ext>
            </a:extLst>
          </p:cNvPr>
          <p:cNvCxnSpPr>
            <a:cxnSpLocks/>
          </p:cNvCxnSpPr>
          <p:nvPr/>
        </p:nvCxnSpPr>
        <p:spPr>
          <a:xfrm flipV="1">
            <a:off x="1020500" y="3941099"/>
            <a:ext cx="0" cy="167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0EBE7EC-C56E-2739-A3A5-9B75F1BF8612}"/>
                  </a:ext>
                </a:extLst>
              </p:cNvPr>
              <p:cNvSpPr txBox="1"/>
              <p:nvPr/>
            </p:nvSpPr>
            <p:spPr>
              <a:xfrm>
                <a:off x="5275728" y="5612244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10EBE7EC-C56E-2739-A3A5-9B75F1BF8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728" y="5612244"/>
                <a:ext cx="181075" cy="276999"/>
              </a:xfrm>
              <a:prstGeom prst="rect">
                <a:avLst/>
              </a:prstGeom>
              <a:blipFill>
                <a:blip r:embed="rId5"/>
                <a:stretch>
                  <a:fillRect l="-13333" r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2FF8C9F-151D-86EF-F68D-8987F2D7CEB4}"/>
                  </a:ext>
                </a:extLst>
              </p:cNvPr>
              <p:cNvSpPr txBox="1"/>
              <p:nvPr/>
            </p:nvSpPr>
            <p:spPr>
              <a:xfrm>
                <a:off x="2411146" y="4753568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2FF8C9F-151D-86EF-F68D-8987F2D7C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146" y="4753568"/>
                <a:ext cx="227948" cy="276999"/>
              </a:xfrm>
              <a:prstGeom prst="rect">
                <a:avLst/>
              </a:prstGeom>
              <a:blipFill>
                <a:blip r:embed="rId6"/>
                <a:stretch>
                  <a:fillRect l="-16667" r="-16667" b="-9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C24BFCE0-EF4B-C48E-01D8-5B7D88E22F05}"/>
              </a:ext>
            </a:extLst>
          </p:cNvPr>
          <p:cNvCxnSpPr>
            <a:cxnSpLocks/>
          </p:cNvCxnSpPr>
          <p:nvPr/>
        </p:nvCxnSpPr>
        <p:spPr>
          <a:xfrm>
            <a:off x="2648608" y="4382315"/>
            <a:ext cx="0" cy="1229929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D7116A17-6B8A-D394-A667-4B4EBC522E81}"/>
              </a:ext>
            </a:extLst>
          </p:cNvPr>
          <p:cNvSpPr/>
          <p:nvPr/>
        </p:nvSpPr>
        <p:spPr>
          <a:xfrm>
            <a:off x="1030015" y="4245077"/>
            <a:ext cx="4225159" cy="358557"/>
          </a:xfrm>
          <a:custGeom>
            <a:avLst/>
            <a:gdLst>
              <a:gd name="csX0" fmla="*/ 0 w 4225159"/>
              <a:gd name="csY0" fmla="*/ 337153 h 358557"/>
              <a:gd name="csX1" fmla="*/ 430924 w 4225159"/>
              <a:gd name="csY1" fmla="*/ 274091 h 358557"/>
              <a:gd name="csX2" fmla="*/ 893379 w 4225159"/>
              <a:gd name="csY2" fmla="*/ 822 h 358557"/>
              <a:gd name="csX3" fmla="*/ 1408386 w 4225159"/>
              <a:gd name="csY3" fmla="*/ 221539 h 358557"/>
              <a:gd name="csX4" fmla="*/ 1891862 w 4225159"/>
              <a:gd name="csY4" fmla="*/ 11332 h 358557"/>
              <a:gd name="csX5" fmla="*/ 2385848 w 4225159"/>
              <a:gd name="csY5" fmla="*/ 253070 h 358557"/>
              <a:gd name="csX6" fmla="*/ 2900855 w 4225159"/>
              <a:gd name="csY6" fmla="*/ 822 h 358557"/>
              <a:gd name="csX7" fmla="*/ 3331779 w 4225159"/>
              <a:gd name="csY7" fmla="*/ 358174 h 358557"/>
              <a:gd name="csX8" fmla="*/ 3731173 w 4225159"/>
              <a:gd name="csY8" fmla="*/ 74394 h 358557"/>
              <a:gd name="csX9" fmla="*/ 4225159 w 4225159"/>
              <a:gd name="csY9" fmla="*/ 295112 h 358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5159" h="358557">
                <a:moveTo>
                  <a:pt x="0" y="337153"/>
                </a:moveTo>
                <a:cubicBezTo>
                  <a:pt x="141014" y="333649"/>
                  <a:pt x="282028" y="330146"/>
                  <a:pt x="430924" y="274091"/>
                </a:cubicBezTo>
                <a:cubicBezTo>
                  <a:pt x="579821" y="218036"/>
                  <a:pt x="730469" y="9581"/>
                  <a:pt x="893379" y="822"/>
                </a:cubicBezTo>
                <a:cubicBezTo>
                  <a:pt x="1056289" y="-7937"/>
                  <a:pt x="1241972" y="219787"/>
                  <a:pt x="1408386" y="221539"/>
                </a:cubicBezTo>
                <a:cubicBezTo>
                  <a:pt x="1574800" y="223291"/>
                  <a:pt x="1728952" y="6077"/>
                  <a:pt x="1891862" y="11332"/>
                </a:cubicBezTo>
                <a:cubicBezTo>
                  <a:pt x="2054772" y="16587"/>
                  <a:pt x="2217683" y="254822"/>
                  <a:pt x="2385848" y="253070"/>
                </a:cubicBezTo>
                <a:cubicBezTo>
                  <a:pt x="2554013" y="251318"/>
                  <a:pt x="2743200" y="-16695"/>
                  <a:pt x="2900855" y="822"/>
                </a:cubicBezTo>
                <a:cubicBezTo>
                  <a:pt x="3058510" y="18339"/>
                  <a:pt x="3193393" y="345912"/>
                  <a:pt x="3331779" y="358174"/>
                </a:cubicBezTo>
                <a:cubicBezTo>
                  <a:pt x="3470165" y="370436"/>
                  <a:pt x="3582276" y="84904"/>
                  <a:pt x="3731173" y="74394"/>
                </a:cubicBezTo>
                <a:cubicBezTo>
                  <a:pt x="3880070" y="63884"/>
                  <a:pt x="4052614" y="179498"/>
                  <a:pt x="4225159" y="295112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66CB3544-3E43-66FC-EE1F-F9B4F03B03B2}"/>
                  </a:ext>
                </a:extLst>
              </p:cNvPr>
              <p:cNvSpPr txBox="1"/>
              <p:nvPr/>
            </p:nvSpPr>
            <p:spPr>
              <a:xfrm>
                <a:off x="765153" y="3802599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66CB3544-3E43-66FC-EE1F-F9B4F03B0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53" y="3802599"/>
                <a:ext cx="181075" cy="276999"/>
              </a:xfrm>
              <a:prstGeom prst="rect">
                <a:avLst/>
              </a:prstGeom>
              <a:blipFill>
                <a:blip r:embed="rId7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2475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E5D01-D3BC-4206-6A5E-4AB9BEFA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59D8495-F792-B64F-C399-B048CD7A2C8F}"/>
              </a:ext>
            </a:extLst>
          </p:cNvPr>
          <p:cNvSpPr/>
          <p:nvPr/>
        </p:nvSpPr>
        <p:spPr>
          <a:xfrm>
            <a:off x="7399283" y="2921875"/>
            <a:ext cx="840828" cy="96695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F885EFBE-8ED5-CE72-6478-03FB710B00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AT" b="1" i="1"/>
                  <a:t>Mass conservation:</a:t>
                </a:r>
              </a:p>
              <a:p>
                <a:pPr marL="0" indent="0">
                  <a:buNone/>
                </a:pPr>
                <a:r>
                  <a:rPr lang="de-AT" b="1" i="1"/>
                  <a:t>		                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endParaRPr lang="de-AT" i="1"/>
              </a:p>
              <a:p>
                <a:pPr marL="0" indent="0">
                  <a:buNone/>
                </a:pPr>
                <a:r>
                  <a:rPr lang="de-AT" b="1" i="1"/>
                  <a:t>Momentum conservation:		non-flat bottom</a:t>
                </a:r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h𝑢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AT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AT" i="1"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𝑔h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de-AT" i="1"/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h𝑣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AT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AT" i="1"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𝑔h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</p:txBody>
          </p:sp>
        </mc:Choice>
        <mc:Fallback xmlns="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F885EFBE-8ED5-CE72-6478-03FB710B00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50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el 21">
            <a:extLst>
              <a:ext uri="{FF2B5EF4-FFF2-40B4-BE49-F238E27FC236}">
                <a16:creationId xmlns:a16="http://schemas.microsoft.com/office/drawing/2014/main" id="{B706364D-3329-C24A-0369-0EAB48DC3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Shallow Water Equations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8E7D63-06B8-DC63-3B91-085AA38DE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086B5D1-3359-ED20-5FC1-09C635AB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CEFCED-C0F5-76F7-0B4C-9CF9DFEF1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7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07DA8C5D-56F9-B462-367C-8E3C4B882CD4}"/>
                  </a:ext>
                </a:extLst>
              </p:cNvPr>
              <p:cNvSpPr txBox="1"/>
              <p:nvPr/>
            </p:nvSpPr>
            <p:spPr>
              <a:xfrm>
                <a:off x="8702925" y="810493"/>
                <a:ext cx="857927" cy="471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de-AT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AT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AT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AT" b="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AT" b="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b="1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07DA8C5D-56F9-B462-367C-8E3C4B882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925" y="810493"/>
                <a:ext cx="857927" cy="471796"/>
              </a:xfrm>
              <a:prstGeom prst="rect">
                <a:avLst/>
              </a:prstGeom>
              <a:blipFill>
                <a:blip r:embed="rId4"/>
                <a:stretch>
                  <a:fillRect l="-2941" b="-131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68FB054-DD1B-0B86-E080-EA1CCBD569E2}"/>
              </a:ext>
            </a:extLst>
          </p:cNvPr>
          <p:cNvCxnSpPr>
            <a:cxnSpLocks/>
          </p:cNvCxnSpPr>
          <p:nvPr/>
        </p:nvCxnSpPr>
        <p:spPr>
          <a:xfrm>
            <a:off x="1020500" y="5612244"/>
            <a:ext cx="4498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9334E11-F8BE-F540-32F1-F27D3F9C0383}"/>
              </a:ext>
            </a:extLst>
          </p:cNvPr>
          <p:cNvCxnSpPr>
            <a:cxnSpLocks/>
          </p:cNvCxnSpPr>
          <p:nvPr/>
        </p:nvCxnSpPr>
        <p:spPr>
          <a:xfrm flipV="1">
            <a:off x="1020500" y="3941099"/>
            <a:ext cx="0" cy="167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71319D1-2F69-2799-2F5B-5CE51FE4A043}"/>
                  </a:ext>
                </a:extLst>
              </p:cNvPr>
              <p:cNvSpPr txBox="1"/>
              <p:nvPr/>
            </p:nvSpPr>
            <p:spPr>
              <a:xfrm>
                <a:off x="5275728" y="5612244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71319D1-2F69-2799-2F5B-5CE51FE4A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728" y="5612244"/>
                <a:ext cx="181075" cy="276999"/>
              </a:xfrm>
              <a:prstGeom prst="rect">
                <a:avLst/>
              </a:prstGeom>
              <a:blipFill>
                <a:blip r:embed="rId5"/>
                <a:stretch>
                  <a:fillRect l="-13333" r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92B5C43-1CBA-2D81-C2A1-5FEB3A5F6FEB}"/>
                  </a:ext>
                </a:extLst>
              </p:cNvPr>
              <p:cNvSpPr txBox="1"/>
              <p:nvPr/>
            </p:nvSpPr>
            <p:spPr>
              <a:xfrm>
                <a:off x="2411146" y="4753568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92B5C43-1CBA-2D81-C2A1-5FEB3A5F6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146" y="4753568"/>
                <a:ext cx="227948" cy="276999"/>
              </a:xfrm>
              <a:prstGeom prst="rect">
                <a:avLst/>
              </a:prstGeom>
              <a:blipFill>
                <a:blip r:embed="rId6"/>
                <a:stretch>
                  <a:fillRect l="-16667" r="-16667" b="-9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7344CA7-9A79-23AD-5900-AC5E1CF5A7AA}"/>
              </a:ext>
            </a:extLst>
          </p:cNvPr>
          <p:cNvCxnSpPr>
            <a:cxnSpLocks/>
          </p:cNvCxnSpPr>
          <p:nvPr/>
        </p:nvCxnSpPr>
        <p:spPr>
          <a:xfrm>
            <a:off x="2648608" y="4382315"/>
            <a:ext cx="0" cy="101950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A16C64A0-5D00-49FC-24E5-237241E3E7D6}"/>
              </a:ext>
            </a:extLst>
          </p:cNvPr>
          <p:cNvSpPr/>
          <p:nvPr/>
        </p:nvSpPr>
        <p:spPr>
          <a:xfrm>
            <a:off x="1030015" y="4245077"/>
            <a:ext cx="4225159" cy="358557"/>
          </a:xfrm>
          <a:custGeom>
            <a:avLst/>
            <a:gdLst>
              <a:gd name="csX0" fmla="*/ 0 w 4225159"/>
              <a:gd name="csY0" fmla="*/ 337153 h 358557"/>
              <a:gd name="csX1" fmla="*/ 430924 w 4225159"/>
              <a:gd name="csY1" fmla="*/ 274091 h 358557"/>
              <a:gd name="csX2" fmla="*/ 893379 w 4225159"/>
              <a:gd name="csY2" fmla="*/ 822 h 358557"/>
              <a:gd name="csX3" fmla="*/ 1408386 w 4225159"/>
              <a:gd name="csY3" fmla="*/ 221539 h 358557"/>
              <a:gd name="csX4" fmla="*/ 1891862 w 4225159"/>
              <a:gd name="csY4" fmla="*/ 11332 h 358557"/>
              <a:gd name="csX5" fmla="*/ 2385848 w 4225159"/>
              <a:gd name="csY5" fmla="*/ 253070 h 358557"/>
              <a:gd name="csX6" fmla="*/ 2900855 w 4225159"/>
              <a:gd name="csY6" fmla="*/ 822 h 358557"/>
              <a:gd name="csX7" fmla="*/ 3331779 w 4225159"/>
              <a:gd name="csY7" fmla="*/ 358174 h 358557"/>
              <a:gd name="csX8" fmla="*/ 3731173 w 4225159"/>
              <a:gd name="csY8" fmla="*/ 74394 h 358557"/>
              <a:gd name="csX9" fmla="*/ 4225159 w 4225159"/>
              <a:gd name="csY9" fmla="*/ 295112 h 358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5159" h="358557">
                <a:moveTo>
                  <a:pt x="0" y="337153"/>
                </a:moveTo>
                <a:cubicBezTo>
                  <a:pt x="141014" y="333649"/>
                  <a:pt x="282028" y="330146"/>
                  <a:pt x="430924" y="274091"/>
                </a:cubicBezTo>
                <a:cubicBezTo>
                  <a:pt x="579821" y="218036"/>
                  <a:pt x="730469" y="9581"/>
                  <a:pt x="893379" y="822"/>
                </a:cubicBezTo>
                <a:cubicBezTo>
                  <a:pt x="1056289" y="-7937"/>
                  <a:pt x="1241972" y="219787"/>
                  <a:pt x="1408386" y="221539"/>
                </a:cubicBezTo>
                <a:cubicBezTo>
                  <a:pt x="1574800" y="223291"/>
                  <a:pt x="1728952" y="6077"/>
                  <a:pt x="1891862" y="11332"/>
                </a:cubicBezTo>
                <a:cubicBezTo>
                  <a:pt x="2054772" y="16587"/>
                  <a:pt x="2217683" y="254822"/>
                  <a:pt x="2385848" y="253070"/>
                </a:cubicBezTo>
                <a:cubicBezTo>
                  <a:pt x="2554013" y="251318"/>
                  <a:pt x="2743200" y="-16695"/>
                  <a:pt x="2900855" y="822"/>
                </a:cubicBezTo>
                <a:cubicBezTo>
                  <a:pt x="3058510" y="18339"/>
                  <a:pt x="3193393" y="345912"/>
                  <a:pt x="3331779" y="358174"/>
                </a:cubicBezTo>
                <a:cubicBezTo>
                  <a:pt x="3470165" y="370436"/>
                  <a:pt x="3582276" y="84904"/>
                  <a:pt x="3731173" y="74394"/>
                </a:cubicBezTo>
                <a:cubicBezTo>
                  <a:pt x="3880070" y="63884"/>
                  <a:pt x="4052614" y="179498"/>
                  <a:pt x="4225159" y="295112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0A862429-8E29-7CEC-0015-CC0D3486EE82}"/>
              </a:ext>
            </a:extLst>
          </p:cNvPr>
          <p:cNvSpPr/>
          <p:nvPr/>
        </p:nvSpPr>
        <p:spPr>
          <a:xfrm>
            <a:off x="1797269" y="5254340"/>
            <a:ext cx="3436883" cy="368694"/>
          </a:xfrm>
          <a:custGeom>
            <a:avLst/>
            <a:gdLst>
              <a:gd name="csX0" fmla="*/ 0 w 3436883"/>
              <a:gd name="csY0" fmla="*/ 347674 h 368694"/>
              <a:gd name="csX1" fmla="*/ 483476 w 3436883"/>
              <a:gd name="csY1" fmla="*/ 316143 h 368694"/>
              <a:gd name="csX2" fmla="*/ 872359 w 3436883"/>
              <a:gd name="csY2" fmla="*/ 116446 h 368694"/>
              <a:gd name="csX3" fmla="*/ 1303283 w 3436883"/>
              <a:gd name="csY3" fmla="*/ 832 h 368694"/>
              <a:gd name="csX4" fmla="*/ 1713186 w 3436883"/>
              <a:gd name="csY4" fmla="*/ 63894 h 368694"/>
              <a:gd name="csX5" fmla="*/ 2049517 w 3436883"/>
              <a:gd name="csY5" fmla="*/ 53384 h 368694"/>
              <a:gd name="csX6" fmla="*/ 2259724 w 3436883"/>
              <a:gd name="csY6" fmla="*/ 11343 h 368694"/>
              <a:gd name="csX7" fmla="*/ 2564524 w 3436883"/>
              <a:gd name="csY7" fmla="*/ 116446 h 368694"/>
              <a:gd name="csX8" fmla="*/ 2816772 w 3436883"/>
              <a:gd name="csY8" fmla="*/ 221550 h 368694"/>
              <a:gd name="csX9" fmla="*/ 3153103 w 3436883"/>
              <a:gd name="csY9" fmla="*/ 316143 h 368694"/>
              <a:gd name="csX10" fmla="*/ 3436883 w 3436883"/>
              <a:gd name="csY10" fmla="*/ 368694 h 368694"/>
              <a:gd name="csX11" fmla="*/ 3436883 w 3436883"/>
              <a:gd name="csY11" fmla="*/ 368694 h 368694"/>
              <a:gd name="csX12" fmla="*/ 3436883 w 3436883"/>
              <a:gd name="csY12" fmla="*/ 368694 h 368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36883" h="368694">
                <a:moveTo>
                  <a:pt x="0" y="347674"/>
                </a:moveTo>
                <a:cubicBezTo>
                  <a:pt x="169041" y="351177"/>
                  <a:pt x="338083" y="354681"/>
                  <a:pt x="483476" y="316143"/>
                </a:cubicBezTo>
                <a:cubicBezTo>
                  <a:pt x="628869" y="277605"/>
                  <a:pt x="735725" y="168998"/>
                  <a:pt x="872359" y="116446"/>
                </a:cubicBezTo>
                <a:cubicBezTo>
                  <a:pt x="1008994" y="63894"/>
                  <a:pt x="1163145" y="9591"/>
                  <a:pt x="1303283" y="832"/>
                </a:cubicBezTo>
                <a:cubicBezTo>
                  <a:pt x="1443421" y="-7927"/>
                  <a:pt x="1588814" y="55135"/>
                  <a:pt x="1713186" y="63894"/>
                </a:cubicBezTo>
                <a:cubicBezTo>
                  <a:pt x="1837558" y="72653"/>
                  <a:pt x="1958427" y="62143"/>
                  <a:pt x="2049517" y="53384"/>
                </a:cubicBezTo>
                <a:cubicBezTo>
                  <a:pt x="2140607" y="44625"/>
                  <a:pt x="2173890" y="833"/>
                  <a:pt x="2259724" y="11343"/>
                </a:cubicBezTo>
                <a:cubicBezTo>
                  <a:pt x="2345559" y="21853"/>
                  <a:pt x="2471683" y="81412"/>
                  <a:pt x="2564524" y="116446"/>
                </a:cubicBezTo>
                <a:cubicBezTo>
                  <a:pt x="2657365" y="151480"/>
                  <a:pt x="2718676" y="188267"/>
                  <a:pt x="2816772" y="221550"/>
                </a:cubicBezTo>
                <a:cubicBezTo>
                  <a:pt x="2914868" y="254833"/>
                  <a:pt x="3049751" y="291619"/>
                  <a:pt x="3153103" y="316143"/>
                </a:cubicBezTo>
                <a:cubicBezTo>
                  <a:pt x="3256455" y="340667"/>
                  <a:pt x="3436883" y="368694"/>
                  <a:pt x="3436883" y="368694"/>
                </a:cubicBezTo>
                <a:lnTo>
                  <a:pt x="3436883" y="368694"/>
                </a:lnTo>
                <a:lnTo>
                  <a:pt x="3436883" y="368694"/>
                </a:ln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B2F883AE-1562-D143-4BE0-20231AD81C38}"/>
              </a:ext>
            </a:extLst>
          </p:cNvPr>
          <p:cNvCxnSpPr>
            <a:cxnSpLocks/>
          </p:cNvCxnSpPr>
          <p:nvPr/>
        </p:nvCxnSpPr>
        <p:spPr>
          <a:xfrm>
            <a:off x="3079531" y="5233439"/>
            <a:ext cx="0" cy="37880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40920E2-55EA-91ED-28DF-72896EF0E6CE}"/>
                  </a:ext>
                </a:extLst>
              </p:cNvPr>
              <p:cNvSpPr txBox="1"/>
              <p:nvPr/>
            </p:nvSpPr>
            <p:spPr>
              <a:xfrm>
                <a:off x="3136356" y="5305361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40920E2-55EA-91ED-28DF-72896EF0E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356" y="5305361"/>
                <a:ext cx="227948" cy="276999"/>
              </a:xfrm>
              <a:prstGeom prst="rect">
                <a:avLst/>
              </a:prstGeom>
              <a:blipFill>
                <a:blip r:embed="rId7"/>
                <a:stretch>
                  <a:fillRect l="-10526" r="-15789" b="-86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A04D317B-FC9B-E9D6-21F3-E2B9FC848C07}"/>
                  </a:ext>
                </a:extLst>
              </p:cNvPr>
              <p:cNvSpPr txBox="1"/>
              <p:nvPr/>
            </p:nvSpPr>
            <p:spPr>
              <a:xfrm>
                <a:off x="765153" y="3802599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A04D317B-FC9B-E9D6-21F3-E2B9FC848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53" y="3802599"/>
                <a:ext cx="181075" cy="276999"/>
              </a:xfrm>
              <a:prstGeom prst="rect">
                <a:avLst/>
              </a:prstGeom>
              <a:blipFill>
                <a:blip r:embed="rId8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813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3FC32-C143-BE48-18F4-C0E5AA07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E64F1BD-EB7C-7604-35A9-FF4F20E62D5C}"/>
              </a:ext>
            </a:extLst>
          </p:cNvPr>
          <p:cNvSpPr/>
          <p:nvPr/>
        </p:nvSpPr>
        <p:spPr>
          <a:xfrm>
            <a:off x="7399283" y="2921875"/>
            <a:ext cx="1481958" cy="96695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FEC084BC-6B72-688A-CEA2-484C2E7E20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AT" b="1" i="1"/>
                  <a:t>Mass conservation:</a:t>
                </a:r>
              </a:p>
              <a:p>
                <a:pPr marL="0" indent="0">
                  <a:buNone/>
                </a:pPr>
                <a:r>
                  <a:rPr lang="de-AT" b="1" i="1"/>
                  <a:t>		                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endParaRPr lang="de-AT" i="1"/>
              </a:p>
              <a:p>
                <a:pPr marL="0" indent="0">
                  <a:buNone/>
                </a:pPr>
                <a:r>
                  <a:rPr lang="de-AT" b="1" i="1"/>
                  <a:t>Momentum conservation:		non-flat bottom, bottom friction</a:t>
                </a:r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h𝑢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AT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AT" i="1"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𝑔h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h𝑢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h𝑣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AT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AT" i="1"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𝑔h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h𝑣</m:t>
                    </m:r>
                  </m:oMath>
                </a14:m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</p:txBody>
          </p:sp>
        </mc:Choice>
        <mc:Fallback xmlns="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FEC084BC-6B72-688A-CEA2-484C2E7E20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50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el 21">
            <a:extLst>
              <a:ext uri="{FF2B5EF4-FFF2-40B4-BE49-F238E27FC236}">
                <a16:creationId xmlns:a16="http://schemas.microsoft.com/office/drawing/2014/main" id="{0983FD89-9864-818B-8694-55A2C73DFF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Shallow Water Equations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425B6AC-F90C-350C-4AE1-748BB01DDA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B6CE4E-21D4-3B03-9A46-6B885104C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A977D4-935D-5B93-D81C-5A0F4059A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BDE8B0D3-86DC-2098-5E63-4242CCF57BB8}"/>
                  </a:ext>
                </a:extLst>
              </p:cNvPr>
              <p:cNvSpPr txBox="1"/>
              <p:nvPr/>
            </p:nvSpPr>
            <p:spPr>
              <a:xfrm>
                <a:off x="8702925" y="810493"/>
                <a:ext cx="857927" cy="471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de-AT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AT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AT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AT" b="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AT" b="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b="1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BDE8B0D3-86DC-2098-5E63-4242CCF57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925" y="810493"/>
                <a:ext cx="857927" cy="471796"/>
              </a:xfrm>
              <a:prstGeom prst="rect">
                <a:avLst/>
              </a:prstGeom>
              <a:blipFill>
                <a:blip r:embed="rId4"/>
                <a:stretch>
                  <a:fillRect l="-2941" b="-131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A7D71218-15CB-7C2E-8C92-DFBE2705928F}"/>
              </a:ext>
            </a:extLst>
          </p:cNvPr>
          <p:cNvCxnSpPr>
            <a:cxnSpLocks/>
          </p:cNvCxnSpPr>
          <p:nvPr/>
        </p:nvCxnSpPr>
        <p:spPr>
          <a:xfrm>
            <a:off x="1020500" y="5612244"/>
            <a:ext cx="4498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79F8C7F-8605-C280-F777-ACBC3DD4C63A}"/>
              </a:ext>
            </a:extLst>
          </p:cNvPr>
          <p:cNvCxnSpPr>
            <a:cxnSpLocks/>
          </p:cNvCxnSpPr>
          <p:nvPr/>
        </p:nvCxnSpPr>
        <p:spPr>
          <a:xfrm flipV="1">
            <a:off x="1020500" y="3941099"/>
            <a:ext cx="0" cy="167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7964620-5494-5299-F3F0-02A2EE7F8387}"/>
                  </a:ext>
                </a:extLst>
              </p:cNvPr>
              <p:cNvSpPr txBox="1"/>
              <p:nvPr/>
            </p:nvSpPr>
            <p:spPr>
              <a:xfrm>
                <a:off x="5275728" y="5612244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7964620-5494-5299-F3F0-02A2EE7F8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728" y="5612244"/>
                <a:ext cx="181075" cy="276999"/>
              </a:xfrm>
              <a:prstGeom prst="rect">
                <a:avLst/>
              </a:prstGeom>
              <a:blipFill>
                <a:blip r:embed="rId5"/>
                <a:stretch>
                  <a:fillRect l="-13333" r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ECD445E3-7122-47D0-5511-1BC5E6E77768}"/>
                  </a:ext>
                </a:extLst>
              </p:cNvPr>
              <p:cNvSpPr txBox="1"/>
              <p:nvPr/>
            </p:nvSpPr>
            <p:spPr>
              <a:xfrm>
                <a:off x="2411146" y="4753568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ECD445E3-7122-47D0-5511-1BC5E6E77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146" y="4753568"/>
                <a:ext cx="227948" cy="276999"/>
              </a:xfrm>
              <a:prstGeom prst="rect">
                <a:avLst/>
              </a:prstGeom>
              <a:blipFill>
                <a:blip r:embed="rId6"/>
                <a:stretch>
                  <a:fillRect l="-16667" r="-16667" b="-9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2B56F9D-55E1-CEF9-1F80-F6EBC725FA54}"/>
              </a:ext>
            </a:extLst>
          </p:cNvPr>
          <p:cNvCxnSpPr>
            <a:cxnSpLocks/>
          </p:cNvCxnSpPr>
          <p:nvPr/>
        </p:nvCxnSpPr>
        <p:spPr>
          <a:xfrm>
            <a:off x="2648608" y="4382315"/>
            <a:ext cx="0" cy="101950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AD2BE839-9404-1987-34F7-D31F9C20322C}"/>
              </a:ext>
            </a:extLst>
          </p:cNvPr>
          <p:cNvSpPr/>
          <p:nvPr/>
        </p:nvSpPr>
        <p:spPr>
          <a:xfrm>
            <a:off x="1030015" y="4245077"/>
            <a:ext cx="4225159" cy="358557"/>
          </a:xfrm>
          <a:custGeom>
            <a:avLst/>
            <a:gdLst>
              <a:gd name="csX0" fmla="*/ 0 w 4225159"/>
              <a:gd name="csY0" fmla="*/ 337153 h 358557"/>
              <a:gd name="csX1" fmla="*/ 430924 w 4225159"/>
              <a:gd name="csY1" fmla="*/ 274091 h 358557"/>
              <a:gd name="csX2" fmla="*/ 893379 w 4225159"/>
              <a:gd name="csY2" fmla="*/ 822 h 358557"/>
              <a:gd name="csX3" fmla="*/ 1408386 w 4225159"/>
              <a:gd name="csY3" fmla="*/ 221539 h 358557"/>
              <a:gd name="csX4" fmla="*/ 1891862 w 4225159"/>
              <a:gd name="csY4" fmla="*/ 11332 h 358557"/>
              <a:gd name="csX5" fmla="*/ 2385848 w 4225159"/>
              <a:gd name="csY5" fmla="*/ 253070 h 358557"/>
              <a:gd name="csX6" fmla="*/ 2900855 w 4225159"/>
              <a:gd name="csY6" fmla="*/ 822 h 358557"/>
              <a:gd name="csX7" fmla="*/ 3331779 w 4225159"/>
              <a:gd name="csY7" fmla="*/ 358174 h 358557"/>
              <a:gd name="csX8" fmla="*/ 3731173 w 4225159"/>
              <a:gd name="csY8" fmla="*/ 74394 h 358557"/>
              <a:gd name="csX9" fmla="*/ 4225159 w 4225159"/>
              <a:gd name="csY9" fmla="*/ 295112 h 358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5159" h="358557">
                <a:moveTo>
                  <a:pt x="0" y="337153"/>
                </a:moveTo>
                <a:cubicBezTo>
                  <a:pt x="141014" y="333649"/>
                  <a:pt x="282028" y="330146"/>
                  <a:pt x="430924" y="274091"/>
                </a:cubicBezTo>
                <a:cubicBezTo>
                  <a:pt x="579821" y="218036"/>
                  <a:pt x="730469" y="9581"/>
                  <a:pt x="893379" y="822"/>
                </a:cubicBezTo>
                <a:cubicBezTo>
                  <a:pt x="1056289" y="-7937"/>
                  <a:pt x="1241972" y="219787"/>
                  <a:pt x="1408386" y="221539"/>
                </a:cubicBezTo>
                <a:cubicBezTo>
                  <a:pt x="1574800" y="223291"/>
                  <a:pt x="1728952" y="6077"/>
                  <a:pt x="1891862" y="11332"/>
                </a:cubicBezTo>
                <a:cubicBezTo>
                  <a:pt x="2054772" y="16587"/>
                  <a:pt x="2217683" y="254822"/>
                  <a:pt x="2385848" y="253070"/>
                </a:cubicBezTo>
                <a:cubicBezTo>
                  <a:pt x="2554013" y="251318"/>
                  <a:pt x="2743200" y="-16695"/>
                  <a:pt x="2900855" y="822"/>
                </a:cubicBezTo>
                <a:cubicBezTo>
                  <a:pt x="3058510" y="18339"/>
                  <a:pt x="3193393" y="345912"/>
                  <a:pt x="3331779" y="358174"/>
                </a:cubicBezTo>
                <a:cubicBezTo>
                  <a:pt x="3470165" y="370436"/>
                  <a:pt x="3582276" y="84904"/>
                  <a:pt x="3731173" y="74394"/>
                </a:cubicBezTo>
                <a:cubicBezTo>
                  <a:pt x="3880070" y="63884"/>
                  <a:pt x="4052614" y="179498"/>
                  <a:pt x="4225159" y="295112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2D9C5796-D98C-AB94-958B-802E964408C0}"/>
              </a:ext>
            </a:extLst>
          </p:cNvPr>
          <p:cNvSpPr/>
          <p:nvPr/>
        </p:nvSpPr>
        <p:spPr>
          <a:xfrm>
            <a:off x="1797269" y="5254340"/>
            <a:ext cx="3436883" cy="368694"/>
          </a:xfrm>
          <a:custGeom>
            <a:avLst/>
            <a:gdLst>
              <a:gd name="csX0" fmla="*/ 0 w 3436883"/>
              <a:gd name="csY0" fmla="*/ 347674 h 368694"/>
              <a:gd name="csX1" fmla="*/ 483476 w 3436883"/>
              <a:gd name="csY1" fmla="*/ 316143 h 368694"/>
              <a:gd name="csX2" fmla="*/ 872359 w 3436883"/>
              <a:gd name="csY2" fmla="*/ 116446 h 368694"/>
              <a:gd name="csX3" fmla="*/ 1303283 w 3436883"/>
              <a:gd name="csY3" fmla="*/ 832 h 368694"/>
              <a:gd name="csX4" fmla="*/ 1713186 w 3436883"/>
              <a:gd name="csY4" fmla="*/ 63894 h 368694"/>
              <a:gd name="csX5" fmla="*/ 2049517 w 3436883"/>
              <a:gd name="csY5" fmla="*/ 53384 h 368694"/>
              <a:gd name="csX6" fmla="*/ 2259724 w 3436883"/>
              <a:gd name="csY6" fmla="*/ 11343 h 368694"/>
              <a:gd name="csX7" fmla="*/ 2564524 w 3436883"/>
              <a:gd name="csY7" fmla="*/ 116446 h 368694"/>
              <a:gd name="csX8" fmla="*/ 2816772 w 3436883"/>
              <a:gd name="csY8" fmla="*/ 221550 h 368694"/>
              <a:gd name="csX9" fmla="*/ 3153103 w 3436883"/>
              <a:gd name="csY9" fmla="*/ 316143 h 368694"/>
              <a:gd name="csX10" fmla="*/ 3436883 w 3436883"/>
              <a:gd name="csY10" fmla="*/ 368694 h 368694"/>
              <a:gd name="csX11" fmla="*/ 3436883 w 3436883"/>
              <a:gd name="csY11" fmla="*/ 368694 h 368694"/>
              <a:gd name="csX12" fmla="*/ 3436883 w 3436883"/>
              <a:gd name="csY12" fmla="*/ 368694 h 368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36883" h="368694">
                <a:moveTo>
                  <a:pt x="0" y="347674"/>
                </a:moveTo>
                <a:cubicBezTo>
                  <a:pt x="169041" y="351177"/>
                  <a:pt x="338083" y="354681"/>
                  <a:pt x="483476" y="316143"/>
                </a:cubicBezTo>
                <a:cubicBezTo>
                  <a:pt x="628869" y="277605"/>
                  <a:pt x="735725" y="168998"/>
                  <a:pt x="872359" y="116446"/>
                </a:cubicBezTo>
                <a:cubicBezTo>
                  <a:pt x="1008994" y="63894"/>
                  <a:pt x="1163145" y="9591"/>
                  <a:pt x="1303283" y="832"/>
                </a:cubicBezTo>
                <a:cubicBezTo>
                  <a:pt x="1443421" y="-7927"/>
                  <a:pt x="1588814" y="55135"/>
                  <a:pt x="1713186" y="63894"/>
                </a:cubicBezTo>
                <a:cubicBezTo>
                  <a:pt x="1837558" y="72653"/>
                  <a:pt x="1958427" y="62143"/>
                  <a:pt x="2049517" y="53384"/>
                </a:cubicBezTo>
                <a:cubicBezTo>
                  <a:pt x="2140607" y="44625"/>
                  <a:pt x="2173890" y="833"/>
                  <a:pt x="2259724" y="11343"/>
                </a:cubicBezTo>
                <a:cubicBezTo>
                  <a:pt x="2345559" y="21853"/>
                  <a:pt x="2471683" y="81412"/>
                  <a:pt x="2564524" y="116446"/>
                </a:cubicBezTo>
                <a:cubicBezTo>
                  <a:pt x="2657365" y="151480"/>
                  <a:pt x="2718676" y="188267"/>
                  <a:pt x="2816772" y="221550"/>
                </a:cubicBezTo>
                <a:cubicBezTo>
                  <a:pt x="2914868" y="254833"/>
                  <a:pt x="3049751" y="291619"/>
                  <a:pt x="3153103" y="316143"/>
                </a:cubicBezTo>
                <a:cubicBezTo>
                  <a:pt x="3256455" y="340667"/>
                  <a:pt x="3436883" y="368694"/>
                  <a:pt x="3436883" y="368694"/>
                </a:cubicBezTo>
                <a:lnTo>
                  <a:pt x="3436883" y="368694"/>
                </a:lnTo>
                <a:lnTo>
                  <a:pt x="3436883" y="368694"/>
                </a:ln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E1E1332C-6170-E5DD-E8FF-CFD0721858D4}"/>
              </a:ext>
            </a:extLst>
          </p:cNvPr>
          <p:cNvCxnSpPr>
            <a:cxnSpLocks/>
          </p:cNvCxnSpPr>
          <p:nvPr/>
        </p:nvCxnSpPr>
        <p:spPr>
          <a:xfrm>
            <a:off x="3079531" y="5233439"/>
            <a:ext cx="0" cy="37880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993B30BD-F3D0-F653-9887-1DB9B0A27E9C}"/>
                  </a:ext>
                </a:extLst>
              </p:cNvPr>
              <p:cNvSpPr txBox="1"/>
              <p:nvPr/>
            </p:nvSpPr>
            <p:spPr>
              <a:xfrm>
                <a:off x="3136356" y="5305361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993B30BD-F3D0-F653-9887-1DB9B0A27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356" y="5305361"/>
                <a:ext cx="227948" cy="276999"/>
              </a:xfrm>
              <a:prstGeom prst="rect">
                <a:avLst/>
              </a:prstGeom>
              <a:blipFill>
                <a:blip r:embed="rId7"/>
                <a:stretch>
                  <a:fillRect l="-10526" r="-15789" b="-86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1558F4B8-541D-5FBC-D051-6D11A5D377E7}"/>
                  </a:ext>
                </a:extLst>
              </p:cNvPr>
              <p:cNvSpPr txBox="1"/>
              <p:nvPr/>
            </p:nvSpPr>
            <p:spPr>
              <a:xfrm>
                <a:off x="765153" y="3802599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1558F4B8-541D-5FBC-D051-6D11A5D37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53" y="3802599"/>
                <a:ext cx="181075" cy="276999"/>
              </a:xfrm>
              <a:prstGeom prst="rect">
                <a:avLst/>
              </a:prstGeom>
              <a:blipFill>
                <a:blip r:embed="rId8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ihandform 16">
            <a:extLst>
              <a:ext uri="{FF2B5EF4-FFF2-40B4-BE49-F238E27FC236}">
                <a16:creationId xmlns:a16="http://schemas.microsoft.com/office/drawing/2014/main" id="{3987898A-86C2-D6FF-87E3-47F55B6C6A60}"/>
              </a:ext>
            </a:extLst>
          </p:cNvPr>
          <p:cNvSpPr/>
          <p:nvPr/>
        </p:nvSpPr>
        <p:spPr>
          <a:xfrm>
            <a:off x="3216166" y="5171090"/>
            <a:ext cx="914400" cy="73721"/>
          </a:xfrm>
          <a:custGeom>
            <a:avLst/>
            <a:gdLst>
              <a:gd name="csX0" fmla="*/ 914400 w 914400"/>
              <a:gd name="csY0" fmla="*/ 10510 h 73721"/>
              <a:gd name="csX1" fmla="*/ 714703 w 914400"/>
              <a:gd name="csY1" fmla="*/ 21020 h 73721"/>
              <a:gd name="csX2" fmla="*/ 641131 w 914400"/>
              <a:gd name="csY2" fmla="*/ 52551 h 73721"/>
              <a:gd name="csX3" fmla="*/ 420413 w 914400"/>
              <a:gd name="csY3" fmla="*/ 73572 h 73721"/>
              <a:gd name="csX4" fmla="*/ 189186 w 914400"/>
              <a:gd name="csY4" fmla="*/ 42041 h 73721"/>
              <a:gd name="csX5" fmla="*/ 0 w 914400"/>
              <a:gd name="csY5" fmla="*/ 0 h 73721"/>
              <a:gd name="csX6" fmla="*/ 0 w 914400"/>
              <a:gd name="csY6" fmla="*/ 0 h 73721"/>
              <a:gd name="csX7" fmla="*/ 0 w 914400"/>
              <a:gd name="csY7" fmla="*/ 0 h 737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0" h="73721">
                <a:moveTo>
                  <a:pt x="914400" y="10510"/>
                </a:moveTo>
                <a:cubicBezTo>
                  <a:pt x="837324" y="12261"/>
                  <a:pt x="760248" y="14013"/>
                  <a:pt x="714703" y="21020"/>
                </a:cubicBezTo>
                <a:cubicBezTo>
                  <a:pt x="669158" y="28027"/>
                  <a:pt x="690179" y="43792"/>
                  <a:pt x="641131" y="52551"/>
                </a:cubicBezTo>
                <a:cubicBezTo>
                  <a:pt x="592083" y="61310"/>
                  <a:pt x="495737" y="75324"/>
                  <a:pt x="420413" y="73572"/>
                </a:cubicBezTo>
                <a:cubicBezTo>
                  <a:pt x="345089" y="71820"/>
                  <a:pt x="259255" y="54303"/>
                  <a:pt x="189186" y="42041"/>
                </a:cubicBezTo>
                <a:cubicBezTo>
                  <a:pt x="119117" y="29779"/>
                  <a:pt x="0" y="0"/>
                  <a:pt x="0" y="0"/>
                </a:cubicBezTo>
                <a:lnTo>
                  <a:pt x="0" y="0"/>
                </a:lnTo>
                <a:lnTo>
                  <a:pt x="0" y="0"/>
                </a:lnTo>
              </a:path>
            </a:pathLst>
          </a:cu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00FB495B-3D37-6916-04D1-6405795085DC}"/>
              </a:ext>
            </a:extLst>
          </p:cNvPr>
          <p:cNvCxnSpPr>
            <a:cxnSpLocks/>
          </p:cNvCxnSpPr>
          <p:nvPr/>
        </p:nvCxnSpPr>
        <p:spPr>
          <a:xfrm>
            <a:off x="3079531" y="4690508"/>
            <a:ext cx="9249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7BD2AA1A-7A1D-6104-90E3-7756A8E04A8E}"/>
              </a:ext>
            </a:extLst>
          </p:cNvPr>
          <p:cNvCxnSpPr>
            <a:cxnSpLocks/>
          </p:cNvCxnSpPr>
          <p:nvPr/>
        </p:nvCxnSpPr>
        <p:spPr>
          <a:xfrm>
            <a:off x="3231931" y="4842908"/>
            <a:ext cx="9249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AAD92347-4086-0185-7CBE-FADFF9DAB7C3}"/>
              </a:ext>
            </a:extLst>
          </p:cNvPr>
          <p:cNvCxnSpPr>
            <a:cxnSpLocks/>
          </p:cNvCxnSpPr>
          <p:nvPr/>
        </p:nvCxnSpPr>
        <p:spPr>
          <a:xfrm>
            <a:off x="3384331" y="4995308"/>
            <a:ext cx="9249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685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4C79A-78AA-6E73-5A22-A39B57BAC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3053E599-01F8-8744-F7A4-F2945982DC57}"/>
              </a:ext>
            </a:extLst>
          </p:cNvPr>
          <p:cNvSpPr/>
          <p:nvPr/>
        </p:nvSpPr>
        <p:spPr>
          <a:xfrm>
            <a:off x="7399283" y="2921875"/>
            <a:ext cx="2627586" cy="96695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9795FED2-408B-4E90-8DC8-CE789CB96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AT" b="1" i="1"/>
                  <a:t>Mass conservation:</a:t>
                </a:r>
              </a:p>
              <a:p>
                <a:pPr marL="0" indent="0">
                  <a:buNone/>
                </a:pPr>
                <a:r>
                  <a:rPr lang="de-AT" b="1" i="1"/>
                  <a:t>		                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endParaRPr lang="de-AT" i="1"/>
              </a:p>
              <a:p>
                <a:pPr marL="0" indent="0">
                  <a:buNone/>
                </a:pPr>
                <a:r>
                  <a:rPr lang="de-AT" b="1" i="1"/>
                  <a:t>Momentum conservation:		non-flat bottom, bottom friction, viscosity</a:t>
                </a:r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h𝑢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AT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AT" i="1"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𝑔h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h𝑢</m:t>
                    </m:r>
                    <m: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de-AT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de-AT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de-AT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μ∇</m:t>
                    </m:r>
                    <m:r>
                      <a:rPr lang="de-AT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AT" b="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AT" i="1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h𝑣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AT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AT" i="1"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𝑔h</m:t>
                    </m:r>
                    <m:sSub>
                      <m:sSubPr>
                        <m:ctrlPr>
                          <a:rPr lang="de-AT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de-AT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h𝑣</m:t>
                    </m:r>
                  </m:oMath>
                </a14:m>
                <a:r>
                  <a:rPr lang="de-AT" b="1" i="1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de-AT" i="1"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sty m:val="p"/>
                      </m:rPr>
                      <a:rPr lang="de-AT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de-AT" b="1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de-AT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μ∇</m:t>
                    </m:r>
                    <m:r>
                      <a:rPr lang="de-AT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AT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AT" i="1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</p:txBody>
          </p:sp>
        </mc:Choice>
        <mc:Fallback xmlns="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9795FED2-408B-4E90-8DC8-CE789CB96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50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el 21">
            <a:extLst>
              <a:ext uri="{FF2B5EF4-FFF2-40B4-BE49-F238E27FC236}">
                <a16:creationId xmlns:a16="http://schemas.microsoft.com/office/drawing/2014/main" id="{E9211F33-8C21-5B7E-8C1D-A481AC375E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Shallow Water Equations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47CF20E-6288-0FF4-EE9E-0DCB12CA4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ADE5C0-4319-F9DF-D740-353996A27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C6FB4E-0AEF-4971-1936-28A263DBB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9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A3D17331-F9EE-9B84-FC54-83A9872C77E8}"/>
                  </a:ext>
                </a:extLst>
              </p:cNvPr>
              <p:cNvSpPr txBox="1"/>
              <p:nvPr/>
            </p:nvSpPr>
            <p:spPr>
              <a:xfrm>
                <a:off x="8702925" y="810493"/>
                <a:ext cx="857927" cy="4717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AT" b="1" i="1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de-AT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AT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de-AT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de-AT" b="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de-AT" b="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de-DE" b="1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A3D17331-F9EE-9B84-FC54-83A9872C7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925" y="810493"/>
                <a:ext cx="857927" cy="471796"/>
              </a:xfrm>
              <a:prstGeom prst="rect">
                <a:avLst/>
              </a:prstGeom>
              <a:blipFill>
                <a:blip r:embed="rId4"/>
                <a:stretch>
                  <a:fillRect l="-2941" b="-1315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263C337B-20F4-CFF5-4725-CC2B748C192F}"/>
              </a:ext>
            </a:extLst>
          </p:cNvPr>
          <p:cNvCxnSpPr>
            <a:cxnSpLocks/>
          </p:cNvCxnSpPr>
          <p:nvPr/>
        </p:nvCxnSpPr>
        <p:spPr>
          <a:xfrm>
            <a:off x="1020500" y="5612244"/>
            <a:ext cx="4498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94B7281D-0F57-F076-13CF-5E81F402E71C}"/>
              </a:ext>
            </a:extLst>
          </p:cNvPr>
          <p:cNvCxnSpPr>
            <a:cxnSpLocks/>
          </p:cNvCxnSpPr>
          <p:nvPr/>
        </p:nvCxnSpPr>
        <p:spPr>
          <a:xfrm flipV="1">
            <a:off x="1020500" y="3941099"/>
            <a:ext cx="0" cy="167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052B6822-2E00-9A21-ABC8-ED5B162AC1F8}"/>
                  </a:ext>
                </a:extLst>
              </p:cNvPr>
              <p:cNvSpPr txBox="1"/>
              <p:nvPr/>
            </p:nvSpPr>
            <p:spPr>
              <a:xfrm>
                <a:off x="5275728" y="5612244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052B6822-2E00-9A21-ABC8-ED5B162AC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728" y="5612244"/>
                <a:ext cx="181075" cy="276999"/>
              </a:xfrm>
              <a:prstGeom prst="rect">
                <a:avLst/>
              </a:prstGeom>
              <a:blipFill>
                <a:blip r:embed="rId5"/>
                <a:stretch>
                  <a:fillRect l="-13333" r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6EEE82A-1CB5-AFE4-A586-92F05294AD73}"/>
                  </a:ext>
                </a:extLst>
              </p:cNvPr>
              <p:cNvSpPr txBox="1"/>
              <p:nvPr/>
            </p:nvSpPr>
            <p:spPr>
              <a:xfrm>
                <a:off x="2411146" y="4753568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76EEE82A-1CB5-AFE4-A586-92F05294A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146" y="4753568"/>
                <a:ext cx="227948" cy="276999"/>
              </a:xfrm>
              <a:prstGeom prst="rect">
                <a:avLst/>
              </a:prstGeom>
              <a:blipFill>
                <a:blip r:embed="rId6"/>
                <a:stretch>
                  <a:fillRect l="-16667" r="-16667" b="-9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C7880604-AF60-7616-7DD6-79CBD07AD2EB}"/>
              </a:ext>
            </a:extLst>
          </p:cNvPr>
          <p:cNvCxnSpPr>
            <a:cxnSpLocks/>
          </p:cNvCxnSpPr>
          <p:nvPr/>
        </p:nvCxnSpPr>
        <p:spPr>
          <a:xfrm>
            <a:off x="2648608" y="4382315"/>
            <a:ext cx="0" cy="101950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Freihandform 11">
            <a:extLst>
              <a:ext uri="{FF2B5EF4-FFF2-40B4-BE49-F238E27FC236}">
                <a16:creationId xmlns:a16="http://schemas.microsoft.com/office/drawing/2014/main" id="{464DC918-1FFB-84FC-BBE5-5C40F4DE1EA6}"/>
              </a:ext>
            </a:extLst>
          </p:cNvPr>
          <p:cNvSpPr/>
          <p:nvPr/>
        </p:nvSpPr>
        <p:spPr>
          <a:xfrm>
            <a:off x="1030015" y="4245077"/>
            <a:ext cx="4225159" cy="358557"/>
          </a:xfrm>
          <a:custGeom>
            <a:avLst/>
            <a:gdLst>
              <a:gd name="csX0" fmla="*/ 0 w 4225159"/>
              <a:gd name="csY0" fmla="*/ 337153 h 358557"/>
              <a:gd name="csX1" fmla="*/ 430924 w 4225159"/>
              <a:gd name="csY1" fmla="*/ 274091 h 358557"/>
              <a:gd name="csX2" fmla="*/ 893379 w 4225159"/>
              <a:gd name="csY2" fmla="*/ 822 h 358557"/>
              <a:gd name="csX3" fmla="*/ 1408386 w 4225159"/>
              <a:gd name="csY3" fmla="*/ 221539 h 358557"/>
              <a:gd name="csX4" fmla="*/ 1891862 w 4225159"/>
              <a:gd name="csY4" fmla="*/ 11332 h 358557"/>
              <a:gd name="csX5" fmla="*/ 2385848 w 4225159"/>
              <a:gd name="csY5" fmla="*/ 253070 h 358557"/>
              <a:gd name="csX6" fmla="*/ 2900855 w 4225159"/>
              <a:gd name="csY6" fmla="*/ 822 h 358557"/>
              <a:gd name="csX7" fmla="*/ 3331779 w 4225159"/>
              <a:gd name="csY7" fmla="*/ 358174 h 358557"/>
              <a:gd name="csX8" fmla="*/ 3731173 w 4225159"/>
              <a:gd name="csY8" fmla="*/ 74394 h 358557"/>
              <a:gd name="csX9" fmla="*/ 4225159 w 4225159"/>
              <a:gd name="csY9" fmla="*/ 295112 h 358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5159" h="358557">
                <a:moveTo>
                  <a:pt x="0" y="337153"/>
                </a:moveTo>
                <a:cubicBezTo>
                  <a:pt x="141014" y="333649"/>
                  <a:pt x="282028" y="330146"/>
                  <a:pt x="430924" y="274091"/>
                </a:cubicBezTo>
                <a:cubicBezTo>
                  <a:pt x="579821" y="218036"/>
                  <a:pt x="730469" y="9581"/>
                  <a:pt x="893379" y="822"/>
                </a:cubicBezTo>
                <a:cubicBezTo>
                  <a:pt x="1056289" y="-7937"/>
                  <a:pt x="1241972" y="219787"/>
                  <a:pt x="1408386" y="221539"/>
                </a:cubicBezTo>
                <a:cubicBezTo>
                  <a:pt x="1574800" y="223291"/>
                  <a:pt x="1728952" y="6077"/>
                  <a:pt x="1891862" y="11332"/>
                </a:cubicBezTo>
                <a:cubicBezTo>
                  <a:pt x="2054772" y="16587"/>
                  <a:pt x="2217683" y="254822"/>
                  <a:pt x="2385848" y="253070"/>
                </a:cubicBezTo>
                <a:cubicBezTo>
                  <a:pt x="2554013" y="251318"/>
                  <a:pt x="2743200" y="-16695"/>
                  <a:pt x="2900855" y="822"/>
                </a:cubicBezTo>
                <a:cubicBezTo>
                  <a:pt x="3058510" y="18339"/>
                  <a:pt x="3193393" y="345912"/>
                  <a:pt x="3331779" y="358174"/>
                </a:cubicBezTo>
                <a:cubicBezTo>
                  <a:pt x="3470165" y="370436"/>
                  <a:pt x="3582276" y="84904"/>
                  <a:pt x="3731173" y="74394"/>
                </a:cubicBezTo>
                <a:cubicBezTo>
                  <a:pt x="3880070" y="63884"/>
                  <a:pt x="4052614" y="179498"/>
                  <a:pt x="4225159" y="295112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0B0CD086-9EBD-8D99-F94D-0B21AAC2A628}"/>
              </a:ext>
            </a:extLst>
          </p:cNvPr>
          <p:cNvSpPr/>
          <p:nvPr/>
        </p:nvSpPr>
        <p:spPr>
          <a:xfrm>
            <a:off x="1797269" y="5254340"/>
            <a:ext cx="3436883" cy="368694"/>
          </a:xfrm>
          <a:custGeom>
            <a:avLst/>
            <a:gdLst>
              <a:gd name="csX0" fmla="*/ 0 w 3436883"/>
              <a:gd name="csY0" fmla="*/ 347674 h 368694"/>
              <a:gd name="csX1" fmla="*/ 483476 w 3436883"/>
              <a:gd name="csY1" fmla="*/ 316143 h 368694"/>
              <a:gd name="csX2" fmla="*/ 872359 w 3436883"/>
              <a:gd name="csY2" fmla="*/ 116446 h 368694"/>
              <a:gd name="csX3" fmla="*/ 1303283 w 3436883"/>
              <a:gd name="csY3" fmla="*/ 832 h 368694"/>
              <a:gd name="csX4" fmla="*/ 1713186 w 3436883"/>
              <a:gd name="csY4" fmla="*/ 63894 h 368694"/>
              <a:gd name="csX5" fmla="*/ 2049517 w 3436883"/>
              <a:gd name="csY5" fmla="*/ 53384 h 368694"/>
              <a:gd name="csX6" fmla="*/ 2259724 w 3436883"/>
              <a:gd name="csY6" fmla="*/ 11343 h 368694"/>
              <a:gd name="csX7" fmla="*/ 2564524 w 3436883"/>
              <a:gd name="csY7" fmla="*/ 116446 h 368694"/>
              <a:gd name="csX8" fmla="*/ 2816772 w 3436883"/>
              <a:gd name="csY8" fmla="*/ 221550 h 368694"/>
              <a:gd name="csX9" fmla="*/ 3153103 w 3436883"/>
              <a:gd name="csY9" fmla="*/ 316143 h 368694"/>
              <a:gd name="csX10" fmla="*/ 3436883 w 3436883"/>
              <a:gd name="csY10" fmla="*/ 368694 h 368694"/>
              <a:gd name="csX11" fmla="*/ 3436883 w 3436883"/>
              <a:gd name="csY11" fmla="*/ 368694 h 368694"/>
              <a:gd name="csX12" fmla="*/ 3436883 w 3436883"/>
              <a:gd name="csY12" fmla="*/ 368694 h 368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36883" h="368694">
                <a:moveTo>
                  <a:pt x="0" y="347674"/>
                </a:moveTo>
                <a:cubicBezTo>
                  <a:pt x="169041" y="351177"/>
                  <a:pt x="338083" y="354681"/>
                  <a:pt x="483476" y="316143"/>
                </a:cubicBezTo>
                <a:cubicBezTo>
                  <a:pt x="628869" y="277605"/>
                  <a:pt x="735725" y="168998"/>
                  <a:pt x="872359" y="116446"/>
                </a:cubicBezTo>
                <a:cubicBezTo>
                  <a:pt x="1008994" y="63894"/>
                  <a:pt x="1163145" y="9591"/>
                  <a:pt x="1303283" y="832"/>
                </a:cubicBezTo>
                <a:cubicBezTo>
                  <a:pt x="1443421" y="-7927"/>
                  <a:pt x="1588814" y="55135"/>
                  <a:pt x="1713186" y="63894"/>
                </a:cubicBezTo>
                <a:cubicBezTo>
                  <a:pt x="1837558" y="72653"/>
                  <a:pt x="1958427" y="62143"/>
                  <a:pt x="2049517" y="53384"/>
                </a:cubicBezTo>
                <a:cubicBezTo>
                  <a:pt x="2140607" y="44625"/>
                  <a:pt x="2173890" y="833"/>
                  <a:pt x="2259724" y="11343"/>
                </a:cubicBezTo>
                <a:cubicBezTo>
                  <a:pt x="2345559" y="21853"/>
                  <a:pt x="2471683" y="81412"/>
                  <a:pt x="2564524" y="116446"/>
                </a:cubicBezTo>
                <a:cubicBezTo>
                  <a:pt x="2657365" y="151480"/>
                  <a:pt x="2718676" y="188267"/>
                  <a:pt x="2816772" y="221550"/>
                </a:cubicBezTo>
                <a:cubicBezTo>
                  <a:pt x="2914868" y="254833"/>
                  <a:pt x="3049751" y="291619"/>
                  <a:pt x="3153103" y="316143"/>
                </a:cubicBezTo>
                <a:cubicBezTo>
                  <a:pt x="3256455" y="340667"/>
                  <a:pt x="3436883" y="368694"/>
                  <a:pt x="3436883" y="368694"/>
                </a:cubicBezTo>
                <a:lnTo>
                  <a:pt x="3436883" y="368694"/>
                </a:lnTo>
                <a:lnTo>
                  <a:pt x="3436883" y="368694"/>
                </a:ln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AB19AECC-657C-0201-70CB-3E412B90A422}"/>
              </a:ext>
            </a:extLst>
          </p:cNvPr>
          <p:cNvCxnSpPr>
            <a:cxnSpLocks/>
          </p:cNvCxnSpPr>
          <p:nvPr/>
        </p:nvCxnSpPr>
        <p:spPr>
          <a:xfrm>
            <a:off x="3079531" y="5233439"/>
            <a:ext cx="0" cy="37880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C5CB00F-7558-9582-6471-3BFF526CF2CE}"/>
                  </a:ext>
                </a:extLst>
              </p:cNvPr>
              <p:cNvSpPr txBox="1"/>
              <p:nvPr/>
            </p:nvSpPr>
            <p:spPr>
              <a:xfrm>
                <a:off x="3136356" y="5305361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C5CB00F-7558-9582-6471-3BFF526CF2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356" y="5305361"/>
                <a:ext cx="227948" cy="276999"/>
              </a:xfrm>
              <a:prstGeom prst="rect">
                <a:avLst/>
              </a:prstGeom>
              <a:blipFill>
                <a:blip r:embed="rId7"/>
                <a:stretch>
                  <a:fillRect l="-10526" r="-15789" b="-86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32F57CBC-AC74-B9AF-B466-21A44BC1E90F}"/>
                  </a:ext>
                </a:extLst>
              </p:cNvPr>
              <p:cNvSpPr txBox="1"/>
              <p:nvPr/>
            </p:nvSpPr>
            <p:spPr>
              <a:xfrm>
                <a:off x="765153" y="3802599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32F57CBC-AC74-B9AF-B466-21A44BC1E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53" y="3802599"/>
                <a:ext cx="181075" cy="276999"/>
              </a:xfrm>
              <a:prstGeom prst="rect">
                <a:avLst/>
              </a:prstGeom>
              <a:blipFill>
                <a:blip r:embed="rId8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ihandform 16">
            <a:extLst>
              <a:ext uri="{FF2B5EF4-FFF2-40B4-BE49-F238E27FC236}">
                <a16:creationId xmlns:a16="http://schemas.microsoft.com/office/drawing/2014/main" id="{2ABBA615-FA7F-9925-5FCC-FBD4425752B8}"/>
              </a:ext>
            </a:extLst>
          </p:cNvPr>
          <p:cNvSpPr/>
          <p:nvPr/>
        </p:nvSpPr>
        <p:spPr>
          <a:xfrm>
            <a:off x="3216166" y="5171090"/>
            <a:ext cx="914400" cy="73721"/>
          </a:xfrm>
          <a:custGeom>
            <a:avLst/>
            <a:gdLst>
              <a:gd name="csX0" fmla="*/ 914400 w 914400"/>
              <a:gd name="csY0" fmla="*/ 10510 h 73721"/>
              <a:gd name="csX1" fmla="*/ 714703 w 914400"/>
              <a:gd name="csY1" fmla="*/ 21020 h 73721"/>
              <a:gd name="csX2" fmla="*/ 641131 w 914400"/>
              <a:gd name="csY2" fmla="*/ 52551 h 73721"/>
              <a:gd name="csX3" fmla="*/ 420413 w 914400"/>
              <a:gd name="csY3" fmla="*/ 73572 h 73721"/>
              <a:gd name="csX4" fmla="*/ 189186 w 914400"/>
              <a:gd name="csY4" fmla="*/ 42041 h 73721"/>
              <a:gd name="csX5" fmla="*/ 0 w 914400"/>
              <a:gd name="csY5" fmla="*/ 0 h 73721"/>
              <a:gd name="csX6" fmla="*/ 0 w 914400"/>
              <a:gd name="csY6" fmla="*/ 0 h 73721"/>
              <a:gd name="csX7" fmla="*/ 0 w 914400"/>
              <a:gd name="csY7" fmla="*/ 0 h 737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14400" h="73721">
                <a:moveTo>
                  <a:pt x="914400" y="10510"/>
                </a:moveTo>
                <a:cubicBezTo>
                  <a:pt x="837324" y="12261"/>
                  <a:pt x="760248" y="14013"/>
                  <a:pt x="714703" y="21020"/>
                </a:cubicBezTo>
                <a:cubicBezTo>
                  <a:pt x="669158" y="28027"/>
                  <a:pt x="690179" y="43792"/>
                  <a:pt x="641131" y="52551"/>
                </a:cubicBezTo>
                <a:cubicBezTo>
                  <a:pt x="592083" y="61310"/>
                  <a:pt x="495737" y="75324"/>
                  <a:pt x="420413" y="73572"/>
                </a:cubicBezTo>
                <a:cubicBezTo>
                  <a:pt x="345089" y="71820"/>
                  <a:pt x="259255" y="54303"/>
                  <a:pt x="189186" y="42041"/>
                </a:cubicBezTo>
                <a:cubicBezTo>
                  <a:pt x="119117" y="29779"/>
                  <a:pt x="0" y="0"/>
                  <a:pt x="0" y="0"/>
                </a:cubicBezTo>
                <a:lnTo>
                  <a:pt x="0" y="0"/>
                </a:lnTo>
                <a:lnTo>
                  <a:pt x="0" y="0"/>
                </a:lnTo>
              </a:path>
            </a:pathLst>
          </a:cu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73CA552-51B6-72D9-50E0-D76D69E807C6}"/>
              </a:ext>
            </a:extLst>
          </p:cNvPr>
          <p:cNvCxnSpPr>
            <a:cxnSpLocks/>
          </p:cNvCxnSpPr>
          <p:nvPr/>
        </p:nvCxnSpPr>
        <p:spPr>
          <a:xfrm>
            <a:off x="3079531" y="4690508"/>
            <a:ext cx="9249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58F1ADD9-52D2-AE0F-34C0-CEB80B94C7C7}"/>
              </a:ext>
            </a:extLst>
          </p:cNvPr>
          <p:cNvCxnSpPr>
            <a:cxnSpLocks/>
          </p:cNvCxnSpPr>
          <p:nvPr/>
        </p:nvCxnSpPr>
        <p:spPr>
          <a:xfrm>
            <a:off x="3231931" y="4842908"/>
            <a:ext cx="9249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D20B7DB4-94F4-CB26-08BA-BDF38CF31F97}"/>
              </a:ext>
            </a:extLst>
          </p:cNvPr>
          <p:cNvCxnSpPr>
            <a:cxnSpLocks/>
          </p:cNvCxnSpPr>
          <p:nvPr/>
        </p:nvCxnSpPr>
        <p:spPr>
          <a:xfrm>
            <a:off x="3384331" y="4995308"/>
            <a:ext cx="924910" cy="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A0BBD1BB-FAD3-5F0C-A209-A1E2FB11A09D}"/>
              </a:ext>
            </a:extLst>
          </p:cNvPr>
          <p:cNvCxnSpPr>
            <a:cxnSpLocks/>
          </p:cNvCxnSpPr>
          <p:nvPr/>
        </p:nvCxnSpPr>
        <p:spPr>
          <a:xfrm flipH="1">
            <a:off x="3541986" y="4761717"/>
            <a:ext cx="395132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20D0B03D-7BF4-0883-3830-02BB91FA6804}"/>
              </a:ext>
            </a:extLst>
          </p:cNvPr>
          <p:cNvCxnSpPr>
            <a:cxnSpLocks/>
          </p:cNvCxnSpPr>
          <p:nvPr/>
        </p:nvCxnSpPr>
        <p:spPr>
          <a:xfrm flipH="1">
            <a:off x="3694386" y="4914117"/>
            <a:ext cx="395132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961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6B0E0-B732-BB01-C763-03DE6C80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DD305E52-223A-90F9-C3BB-60E30E0DC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Domain:					</a:t>
            </a:r>
          </a:p>
          <a:p>
            <a:pPr marL="0" indent="0">
              <a:buNone/>
            </a:pPr>
            <a:r>
              <a:rPr lang="de-AT" b="1" i="1"/>
              <a:t>				</a:t>
            </a:r>
            <a:r>
              <a:rPr lang="de-AT" i="1"/>
              <a:t>structured, rectangular grid</a:t>
            </a:r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r>
              <a:rPr lang="de-AT" b="1" i="1"/>
              <a:t>		                    	</a:t>
            </a:r>
            <a:endParaRPr lang="de-AT" i="1"/>
          </a:p>
          <a:p>
            <a:pPr marL="0" indent="0">
              <a:buNone/>
            </a:pPr>
            <a:r>
              <a:rPr lang="de-AT" b="1" i="1"/>
              <a:t>Boundary condition:		</a:t>
            </a:r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r>
              <a:rPr lang="de-AT" b="1" i="1"/>
              <a:t>				        </a:t>
            </a:r>
            <a:r>
              <a:rPr lang="de-AT" i="1"/>
              <a:t>reflecting walls</a:t>
            </a:r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AD9132F9-EF14-43DA-EAE3-D6D260E815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Domain/BC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606E486-3EE3-6C2A-22A6-84F686234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8B45C39-2639-843A-A413-BA208F58C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2A8098-56B1-0AC4-8D49-E79F99E79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7F43BED-1B6D-4E01-F9E9-98B461865B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699"/>
          <a:stretch>
            <a:fillRect/>
          </a:stretch>
        </p:blipFill>
        <p:spPr>
          <a:xfrm rot="19471759">
            <a:off x="8442214" y="996134"/>
            <a:ext cx="3097991" cy="253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53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61440-81D8-D98F-B2DD-679F65AD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72D861C5-4139-657B-B1D1-0D16D5EC6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>
                <a:solidFill>
                  <a:schemeClr val="accent2"/>
                </a:solidFill>
              </a:rPr>
              <a:t>Fluxes </a:t>
            </a:r>
            <a:r>
              <a:rPr lang="de-AT" b="1" i="1">
                <a:solidFill>
                  <a:schemeClr val="tx1"/>
                </a:solidFill>
              </a:rPr>
              <a:t>and</a:t>
            </a:r>
            <a:r>
              <a:rPr lang="de-AT" b="1" i="1">
                <a:solidFill>
                  <a:schemeClr val="accent2"/>
                </a:solidFill>
              </a:rPr>
              <a:t> </a:t>
            </a:r>
            <a:r>
              <a:rPr lang="de-AT" b="1" i="1">
                <a:solidFill>
                  <a:srgbClr val="00B0F0"/>
                </a:solidFill>
              </a:rPr>
              <a:t>Cell Average Values</a:t>
            </a:r>
            <a:r>
              <a:rPr lang="de-AT" b="1" i="1"/>
              <a:t>					</a:t>
            </a:r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r>
              <a:rPr lang="de-AT" b="1" i="1"/>
              <a:t>		                    	</a:t>
            </a:r>
            <a:endParaRPr lang="de-AT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A8A24D3A-5FCB-1546-F20F-EBB25ABC9E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Domain/BC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EB454FD-1D1A-770B-5EA5-23B317F52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6DA4D-0248-A8AE-527A-AF8C6CA1B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75021D-2E73-7629-9D3C-49246E5B0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C729F65-5FB3-1E79-C832-408A555B44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912" r="61863"/>
          <a:stretch>
            <a:fillRect/>
          </a:stretch>
        </p:blipFill>
        <p:spPr>
          <a:xfrm>
            <a:off x="4257890" y="1433589"/>
            <a:ext cx="3420331" cy="25766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4ED3D78-9FCD-3C27-542A-9DF81F554DDB}"/>
                  </a:ext>
                </a:extLst>
              </p:cNvPr>
              <p:cNvSpPr txBox="1"/>
              <p:nvPr/>
            </p:nvSpPr>
            <p:spPr>
              <a:xfrm>
                <a:off x="3689369" y="4113468"/>
                <a:ext cx="542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AT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AT" b="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4ED3D78-9FCD-3C27-542A-9DF81F554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369" y="4113468"/>
                <a:ext cx="542200" cy="369332"/>
              </a:xfrm>
              <a:prstGeom prst="rect">
                <a:avLst/>
              </a:prstGeom>
              <a:blipFill>
                <a:blip r:embed="rId4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CA23F6E-5DD6-B626-B24E-090B9E51ED17}"/>
                  </a:ext>
                </a:extLst>
              </p:cNvPr>
              <p:cNvSpPr txBox="1"/>
              <p:nvPr/>
            </p:nvSpPr>
            <p:spPr>
              <a:xfrm>
                <a:off x="4900485" y="4414656"/>
                <a:ext cx="6696449" cy="760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AT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AT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AT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de-DE">
                    <a:solidFill>
                      <a:schemeClr val="accent2"/>
                    </a:solidFill>
                  </a:rPr>
                  <a:t> Riemann </a:t>
                </a:r>
                <a:r>
                  <a:rPr lang="de-DE"/>
                  <a:t>integration</a:t>
                </a:r>
                <a:r>
                  <a:rPr lang="de-DE">
                    <a:solidFill>
                      <a:schemeClr val="accent2"/>
                    </a:solidFill>
                  </a:rPr>
                  <a:t> </a:t>
                </a:r>
                <a:r>
                  <a:rPr lang="de-DE"/>
                  <a:t>for flux value </a:t>
                </a:r>
              </a:p>
              <a:p>
                <a:r>
                  <a:rPr lang="de-DE">
                    <a:solidFill>
                      <a:schemeClr val="accent2"/>
                    </a:solidFill>
                    <a:ea typeface="Cambria Math" panose="02040503050406030204" pitchFamily="18" charset="0"/>
                  </a:rPr>
                  <a:t>	    </a:t>
                </a:r>
                <a14:m>
                  <m:oMath xmlns:m="http://schemas.openxmlformats.org/officeDocument/2006/math">
                    <m:r>
                      <a:rPr lang="de-DE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de-DE">
                    <a:solidFill>
                      <a:schemeClr val="accent2"/>
                    </a:solidFill>
                  </a:rPr>
                  <a:t> </a:t>
                </a:r>
                <a:r>
                  <a:rPr lang="de-DE"/>
                  <a:t>needs</a:t>
                </a:r>
                <a:r>
                  <a:rPr lang="de-DE">
                    <a:solidFill>
                      <a:schemeClr val="accent2"/>
                    </a:solidFill>
                  </a:rPr>
                  <a:t> </a:t>
                </a:r>
                <a:r>
                  <a:rPr lang="de-DE">
                    <a:solidFill>
                      <a:srgbClr val="7030A0"/>
                    </a:solidFill>
                  </a:rPr>
                  <a:t>Reconstruction</a:t>
                </a:r>
                <a:r>
                  <a:rPr lang="de-DE">
                    <a:solidFill>
                      <a:schemeClr val="accent2"/>
                    </a:solidFill>
                  </a:rPr>
                  <a:t> </a:t>
                </a:r>
                <a:r>
                  <a:rPr lang="de-DE"/>
                  <a:t>of (discontinous) values near the face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CA23F6E-5DD6-B626-B24E-090B9E51E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485" y="4414656"/>
                <a:ext cx="6696449" cy="760465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0678458-E9EC-527E-8FFA-D61EE1EF59B3}"/>
              </a:ext>
            </a:extLst>
          </p:cNvPr>
          <p:cNvCxnSpPr>
            <a:cxnSpLocks/>
          </p:cNvCxnSpPr>
          <p:nvPr/>
        </p:nvCxnSpPr>
        <p:spPr>
          <a:xfrm flipV="1">
            <a:off x="5346280" y="3370517"/>
            <a:ext cx="0" cy="105625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216FF34B-F898-FD9B-4E8F-7081569E7A23}"/>
              </a:ext>
            </a:extLst>
          </p:cNvPr>
          <p:cNvCxnSpPr>
            <a:cxnSpLocks/>
          </p:cNvCxnSpPr>
          <p:nvPr/>
        </p:nvCxnSpPr>
        <p:spPr>
          <a:xfrm flipV="1">
            <a:off x="4109234" y="3370517"/>
            <a:ext cx="893135" cy="77904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CE683ECD-42A6-8A48-EDC8-417FFCF5945C}"/>
                  </a:ext>
                </a:extLst>
              </p:cNvPr>
              <p:cNvSpPr txBox="1"/>
              <p:nvPr/>
            </p:nvSpPr>
            <p:spPr>
              <a:xfrm>
                <a:off x="2797779" y="2759581"/>
                <a:ext cx="89159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AT" b="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de-AT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  <m:r>
                        <a:rPr lang="de-AT" b="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AT" b="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b="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AT" b="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de-DE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CE683ECD-42A6-8A48-EDC8-417FFCF59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779" y="2759581"/>
                <a:ext cx="891590" cy="610936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B7FB8B7-2BCA-389B-6A35-9110FD85B1EB}"/>
              </a:ext>
            </a:extLst>
          </p:cNvPr>
          <p:cNvCxnSpPr>
            <a:cxnSpLocks/>
          </p:cNvCxnSpPr>
          <p:nvPr/>
        </p:nvCxnSpPr>
        <p:spPr>
          <a:xfrm>
            <a:off x="3689369" y="3040235"/>
            <a:ext cx="1387428" cy="1418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48B75D91-CCCD-B5B7-8BAE-927AB223B501}"/>
              </a:ext>
            </a:extLst>
          </p:cNvPr>
          <p:cNvCxnSpPr>
            <a:cxnSpLocks/>
          </p:cNvCxnSpPr>
          <p:nvPr/>
        </p:nvCxnSpPr>
        <p:spPr>
          <a:xfrm flipH="1" flipV="1">
            <a:off x="3280030" y="4330033"/>
            <a:ext cx="409339" cy="419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A80346D6-E545-EFE3-D0C7-479D46CAEE41}"/>
              </a:ext>
            </a:extLst>
          </p:cNvPr>
          <p:cNvSpPr txBox="1"/>
          <p:nvPr/>
        </p:nvSpPr>
        <p:spPr>
          <a:xfrm>
            <a:off x="96972" y="4149566"/>
            <a:ext cx="3087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With </a:t>
            </a:r>
            <a:r>
              <a:rPr lang="de-DE">
                <a:solidFill>
                  <a:schemeClr val="accent2"/>
                </a:solidFill>
              </a:rPr>
              <a:t>Riemann </a:t>
            </a:r>
            <a:r>
              <a:rPr lang="de-DE"/>
              <a:t>flux field and FV</a:t>
            </a:r>
          </a:p>
        </p:txBody>
      </p:sp>
    </p:spTree>
    <p:extLst>
      <p:ext uri="{BB962C8B-B14F-4D97-AF65-F5344CB8AC3E}">
        <p14:creationId xmlns:p14="http://schemas.microsoft.com/office/powerpoint/2010/main" val="1839269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D596-AF44-C155-0105-500F43CA7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6A92E0EC-E2DD-5AD2-ECBA-1FCB3A6A3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810494"/>
            <a:ext cx="10858029" cy="6047506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de-AT" b="1" i="1"/>
              <a:t>SerialSolver.run()</a:t>
            </a:r>
          </a:p>
          <a:p>
            <a:pPr marL="0" indent="0">
              <a:buNone/>
            </a:pPr>
            <a:r>
              <a:rPr lang="de-AT" b="1" i="1"/>
              <a:t>	// SSP-RK3 </a:t>
            </a:r>
          </a:p>
          <a:p>
            <a:pPr marL="0" indent="0">
              <a:buNone/>
            </a:pPr>
            <a:r>
              <a:rPr lang="de-AT" b="1" i="1"/>
              <a:t>	for () {</a:t>
            </a:r>
          </a:p>
          <a:p>
            <a:pPr marL="0" indent="0">
              <a:buNone/>
            </a:pPr>
            <a:r>
              <a:rPr lang="de-AT" b="1" i="1"/>
              <a:t>		computeRHS(State&amp; U, State&amp; rhs) {</a:t>
            </a:r>
          </a:p>
          <a:p>
            <a:pPr marL="0" indent="0">
              <a:buNone/>
            </a:pPr>
            <a:r>
              <a:rPr lang="de-AT" b="1" i="1"/>
              <a:t>			&lt;&gt;.applyBC(State&amp; U) {</a:t>
            </a:r>
          </a:p>
          <a:p>
            <a:pPr marL="0" indent="0">
              <a:buNone/>
            </a:pPr>
            <a:r>
              <a:rPr lang="de-AT" b="1" i="1"/>
              <a:t>				for (i in x_dim) {</a:t>
            </a:r>
          </a:p>
          <a:p>
            <a:pPr marL="0" indent="0">
              <a:buNone/>
            </a:pPr>
            <a:r>
              <a:rPr lang="de-AT" b="1" i="1"/>
              <a:t>					for (j in y_dim) {</a:t>
            </a:r>
          </a:p>
          <a:p>
            <a:pPr marL="0" indent="0">
              <a:buNone/>
            </a:pPr>
            <a:r>
              <a:rPr lang="de-AT" b="1" i="1"/>
              <a:t>						&lt;implementation&gt; </a:t>
            </a:r>
            <a:r>
              <a:rPr lang="de-AT" b="1" i="1">
                <a:sym typeface="Wingdings" pitchFamily="2" charset="2"/>
              </a:rPr>
              <a:t> optimize Array Acces (like saxpy)</a:t>
            </a:r>
          </a:p>
          <a:p>
            <a:pPr marL="0" indent="0">
              <a:buNone/>
            </a:pPr>
            <a:r>
              <a:rPr lang="de-AT" b="1" i="1">
                <a:sym typeface="Wingdings" pitchFamily="2" charset="2"/>
              </a:rPr>
              <a:t>							</a:t>
            </a:r>
            <a:r>
              <a:rPr lang="de-AT" b="1" i="1">
                <a:solidFill>
                  <a:srgbClr val="FF0000"/>
                </a:solidFill>
                <a:sym typeface="Wingdings" pitchFamily="2" charset="2"/>
              </a:rPr>
              <a:t>Acces THREE different arrays in ONE loop :/</a:t>
            </a:r>
            <a:endParaRPr lang="de-AT" b="1" i="1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de-AT" b="1" i="1"/>
              <a:t>					}</a:t>
            </a:r>
          </a:p>
          <a:p>
            <a:pPr marL="0" indent="0">
              <a:buNone/>
            </a:pPr>
            <a:r>
              <a:rPr lang="de-AT" b="1" i="1"/>
              <a:t>				}</a:t>
            </a:r>
          </a:p>
          <a:p>
            <a:pPr marL="0" indent="0">
              <a:buNone/>
            </a:pPr>
            <a:r>
              <a:rPr lang="de-AT" b="1" i="1"/>
              <a:t>			}</a:t>
            </a:r>
          </a:p>
          <a:p>
            <a:pPr marL="0" indent="0">
              <a:buNone/>
            </a:pPr>
            <a:r>
              <a:rPr lang="de-AT" b="1" i="1"/>
              <a:t>			&lt;&gt;.compute_x_fluxes(State&amp; U, ReconstructionInstance, RiemannInstance, XFluxField&amp; Fx, Grid&amp; grid) {</a:t>
            </a:r>
          </a:p>
          <a:p>
            <a:pPr marL="0" indent="0">
              <a:buNone/>
            </a:pPr>
            <a:r>
              <a:rPr lang="de-AT" b="1" i="1"/>
              <a:t>				for (i in x_dim) {</a:t>
            </a:r>
          </a:p>
          <a:p>
            <a:pPr marL="0" indent="0">
              <a:buNone/>
            </a:pPr>
            <a:r>
              <a:rPr lang="de-AT" b="1" i="1"/>
              <a:t>					for (j in y_dim) {</a:t>
            </a:r>
          </a:p>
          <a:p>
            <a:pPr marL="0" indent="0">
              <a:buNone/>
            </a:pPr>
            <a:r>
              <a:rPr lang="de-AT" b="1" i="1"/>
              <a:t>						create Objects Cellstate UL, UR</a:t>
            </a:r>
          </a:p>
          <a:p>
            <a:pPr marL="0" indent="0">
              <a:buNone/>
            </a:pPr>
            <a:r>
              <a:rPr lang="de-AT" b="1" i="1"/>
              <a:t>						&lt;&gt;.x_flux(CellState&amp; UL, CellState&amp; UR) {</a:t>
            </a:r>
          </a:p>
          <a:p>
            <a:pPr marL="0" indent="0">
              <a:buNone/>
            </a:pPr>
            <a:r>
              <a:rPr lang="de-AT" b="1" i="1"/>
              <a:t>							access</a:t>
            </a:r>
          </a:p>
          <a:p>
            <a:pPr marL="0" indent="0">
              <a:buNone/>
            </a:pPr>
            <a:r>
              <a:rPr lang="de-AT" b="1" i="1"/>
              <a:t>		computeU1(State&amp; U, &lt;&gt;) {</a:t>
            </a:r>
          </a:p>
          <a:p>
            <a:pPr marL="0" indent="0">
              <a:buNone/>
            </a:pPr>
            <a:r>
              <a:rPr lang="de-AT" b="1" i="1"/>
              <a:t>			saxpy_array( loop over ij but in Array2D form – loop over k-&gt; Array2D size – good acces ) {</a:t>
            </a:r>
          </a:p>
          <a:p>
            <a:pPr marL="0" indent="0">
              <a:buNone/>
            </a:pPr>
            <a:r>
              <a:rPr lang="de-AT" b="1" i="1"/>
              <a:t>				</a:t>
            </a:r>
            <a:r>
              <a:rPr lang="de-AT" b="1" i="1">
                <a:solidFill>
                  <a:srgbClr val="92D050"/>
                </a:solidFill>
              </a:rPr>
              <a:t>Access ONE array in THREE different loops -&gt; much cache friendlier?</a:t>
            </a:r>
          </a:p>
          <a:p>
            <a:pPr marL="0" indent="0">
              <a:buNone/>
            </a:pPr>
            <a:r>
              <a:rPr lang="de-AT" b="1" i="1">
                <a:solidFill>
                  <a:srgbClr val="92D050"/>
                </a:solidFill>
              </a:rPr>
              <a:t>		</a:t>
            </a:r>
            <a:r>
              <a:rPr lang="de-AT" b="1" i="1">
                <a:solidFill>
                  <a:schemeClr val="tx1"/>
                </a:solidFill>
              </a:rPr>
              <a:t>	}</a:t>
            </a:r>
          </a:p>
          <a:p>
            <a:pPr marL="0" indent="0">
              <a:buNone/>
            </a:pPr>
            <a:r>
              <a:rPr lang="de-AT" b="1" i="1"/>
              <a:t>		computeRHS() * 2</a:t>
            </a:r>
          </a:p>
          <a:p>
            <a:pPr marL="0" indent="0">
              <a:buNone/>
            </a:pPr>
            <a:r>
              <a:rPr lang="de-AT" b="1" i="1"/>
              <a:t>		computeU*() * 2</a:t>
            </a:r>
          </a:p>
          <a:p>
            <a:pPr marL="0" indent="0">
              <a:buNone/>
            </a:pPr>
            <a:r>
              <a:rPr lang="de-AT" b="1" i="1"/>
              <a:t>		</a:t>
            </a:r>
          </a:p>
          <a:p>
            <a:pPr marL="0" indent="0">
              <a:buNone/>
            </a:pPr>
            <a:r>
              <a:rPr lang="de-AT" b="1" i="1"/>
              <a:t>		U_ = U_next_;  </a:t>
            </a:r>
            <a:r>
              <a:rPr lang="de-AT" b="1" i="1">
                <a:solidFill>
                  <a:srgbClr val="FF0000"/>
                </a:solidFill>
              </a:rPr>
              <a:t>-&gt; copy by value?</a:t>
            </a:r>
          </a:p>
          <a:p>
            <a:pPr marL="0" indent="0">
              <a:buNone/>
            </a:pPr>
            <a:r>
              <a:rPr lang="de-AT" b="1" i="1"/>
              <a:t>		</a:t>
            </a:r>
            <a:r>
              <a:rPr lang="de-AT" sz="1800" b="1" i="1"/>
              <a:t>&lt;&gt;.applyBC(State&amp; U_)</a:t>
            </a:r>
          </a:p>
          <a:p>
            <a:pPr marL="0" indent="0">
              <a:buNone/>
            </a:pPr>
            <a:endParaRPr lang="de-AT" sz="1800" b="1" i="1"/>
          </a:p>
          <a:p>
            <a:pPr marL="0" indent="0">
              <a:buNone/>
            </a:pPr>
            <a:r>
              <a:rPr lang="de-AT" sz="1800" b="1" i="1"/>
              <a:t>		// ETA, Writer, SanityChecks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EC551A54-8243-15B2-621C-24C2804B71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Solver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A999D71-4A86-6D2A-774E-D0713EE14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B1235D3-2C7D-1E22-9E1D-60C4E170F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10BF15-05DD-DB77-0872-BC6DD3244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3342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2EFC-B3CF-DCA9-B3C7-35493877C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0B0D49BD-4925-1F32-EFD6-45477ABB5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Finite Volume:					</a:t>
            </a:r>
          </a:p>
          <a:p>
            <a:pPr marL="0" indent="0">
              <a:buNone/>
            </a:pPr>
            <a:r>
              <a:rPr lang="de-AT" b="1" i="1"/>
              <a:t>				</a:t>
            </a:r>
            <a:r>
              <a:rPr lang="de-AT" i="1"/>
              <a:t>numerical flux:  Rusanov</a:t>
            </a:r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r>
              <a:rPr lang="de-AT" b="1" i="1"/>
              <a:t>Finite Volume + MUSCL: 	              </a:t>
            </a:r>
          </a:p>
          <a:p>
            <a:pPr marL="0" indent="0">
              <a:buNone/>
            </a:pPr>
            <a:r>
              <a:rPr lang="de-AT" b="1" i="1"/>
              <a:t>				</a:t>
            </a:r>
            <a:r>
              <a:rPr lang="de-AT" i="1"/>
              <a:t>numerical flux:  HLL, Roe</a:t>
            </a:r>
          </a:p>
          <a:p>
            <a:pPr marL="0" indent="0">
              <a:buNone/>
            </a:pPr>
            <a:r>
              <a:rPr lang="de-AT" i="1"/>
              <a:t>				            slope limiter</a:t>
            </a:r>
          </a:p>
          <a:p>
            <a:pPr marL="0" indent="0">
              <a:buNone/>
            </a:pPr>
            <a:r>
              <a:rPr lang="de-AT" i="1"/>
              <a:t>				     positivity preservation</a:t>
            </a:r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r>
              <a:rPr lang="de-AT" b="1" i="1"/>
              <a:t>				      		</a:t>
            </a:r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89F9ABA1-5453-3EC6-82F7-58A7A862A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Solver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B400583-0749-F935-CD71-73A2CF876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4886B12-3C71-3277-8F73-8A4EC8739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321BE8D-452A-41C0-6453-68DF68281D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5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CC722-5A03-B834-6D6C-0C49CAE22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65F0F0B1-A599-6386-4AF6-C972CCA40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Goals:					</a:t>
            </a:r>
          </a:p>
          <a:p>
            <a:pPr marL="0" indent="0">
              <a:buNone/>
            </a:pPr>
            <a:r>
              <a:rPr lang="de-AT" b="1" i="1"/>
              <a:t>				           	</a:t>
            </a:r>
            <a:r>
              <a:rPr lang="de-AT" i="1"/>
              <a:t>code analysis</a:t>
            </a:r>
          </a:p>
          <a:p>
            <a:pPr marL="0" indent="0">
              <a:buNone/>
            </a:pPr>
            <a:r>
              <a:rPr lang="de-AT" b="1" i="1"/>
              <a:t>				   </a:t>
            </a:r>
            <a:r>
              <a:rPr lang="de-AT" i="1"/>
              <a:t>memory (access) optimization</a:t>
            </a:r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r>
              <a:rPr lang="de-AT" b="1" i="1"/>
              <a:t>				    </a:t>
            </a:r>
            <a:r>
              <a:rPr lang="de-AT" i="1"/>
              <a:t>Parallelization with OpenMP</a:t>
            </a:r>
          </a:p>
          <a:p>
            <a:pPr marL="0" indent="0">
              <a:buNone/>
            </a:pPr>
            <a:r>
              <a:rPr lang="de-AT" i="1"/>
              <a:t>				      GPU acceleration with CUDA</a:t>
            </a:r>
          </a:p>
          <a:p>
            <a:pPr marL="0" indent="0">
              <a:buNone/>
            </a:pPr>
            <a:r>
              <a:rPr lang="de-AT" i="1"/>
              <a:t>				</a:t>
            </a:r>
          </a:p>
          <a:p>
            <a:pPr marL="0" indent="0">
              <a:buNone/>
            </a:pPr>
            <a:r>
              <a:rPr lang="de-AT" i="1"/>
              <a:t>				          strong scaling analysis</a:t>
            </a:r>
          </a:p>
          <a:p>
            <a:pPr marL="0" indent="0">
              <a:buNone/>
            </a:pPr>
            <a:r>
              <a:rPr lang="de-AT" i="1"/>
              <a:t>				           weak scaling analysis</a:t>
            </a:r>
          </a:p>
          <a:p>
            <a:pPr marL="0" indent="0">
              <a:buNone/>
            </a:pPr>
            <a:r>
              <a:rPr lang="de-AT" i="1"/>
              <a:t>					CPU vs. GPU</a:t>
            </a:r>
          </a:p>
          <a:p>
            <a:pPr marL="0" indent="0">
              <a:buNone/>
            </a:pPr>
            <a:endParaRPr lang="de-AT" i="1"/>
          </a:p>
          <a:p>
            <a:pPr marL="0" indent="0">
              <a:buNone/>
            </a:pPr>
            <a:r>
              <a:rPr lang="de-AT" i="1"/>
              <a:t>				           </a:t>
            </a:r>
            <a:r>
              <a:rPr lang="de-AT" b="1" i="1"/>
              <a:t>				      		</a:t>
            </a:r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DD0854F-A2E7-070D-138D-55A7C49184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HPC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CE68D5A-612A-070E-D030-4B1E093F3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16.04.26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5951447-39B2-4F56-40A1-599EF28EF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B622F4-DC21-C29B-838C-228E4D21F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569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110E862-1FC5-D0D5-AF81-FC3E57091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2" y="2951163"/>
            <a:ext cx="10561669" cy="477837"/>
          </a:xfrm>
        </p:spPr>
        <p:txBody>
          <a:bodyPr/>
          <a:lstStyle/>
          <a:p>
            <a:r>
              <a:rPr lang="de-AT" sz="4000" err="1"/>
              <a:t>Thank</a:t>
            </a:r>
            <a:r>
              <a:rPr lang="de-AT" sz="4000"/>
              <a:t> you </a:t>
            </a:r>
            <a:r>
              <a:rPr lang="de-AT" sz="4000" err="1"/>
              <a:t>fo</a:t>
            </a:r>
            <a:r>
              <a:rPr lang="de-AT" sz="4000"/>
              <a:t> </a:t>
            </a:r>
            <a:r>
              <a:rPr lang="de-AT" sz="4000" err="1"/>
              <a:t>your</a:t>
            </a:r>
            <a:r>
              <a:rPr lang="de-AT" sz="4000"/>
              <a:t> </a:t>
            </a:r>
            <a:r>
              <a:rPr lang="de-AT" sz="4000" err="1"/>
              <a:t>attention</a:t>
            </a:r>
            <a:endParaRPr lang="de-AT" sz="400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B2E51A5-07F8-FAE1-0E5F-3E02298BE0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7130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ib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��
</file>

<file path=customXml/itemProps1.xml><?xml version="1.0" encoding="utf-8"?>
<ds:datastoreItem xmlns:ds="http://schemas.openxmlformats.org/officeDocument/2006/customXml" ds:itemID="{E8D01778-62E1-4AD0-B2FB-E631DD3CCD47}">
  <ds:schemaRefs>
    <ds:schemaRef ds:uri="http://www.w3.org/2001/XMLSchema"/>
    <ds:schemaRef ds:uri="http://www.zhaw.ch/AccessibilityAdd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1302</Words>
  <Application>Microsoft Macintosh PowerPoint</Application>
  <PresentationFormat>Breitbild</PresentationFormat>
  <Paragraphs>273</Paragraphs>
  <Slides>15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Wingdings</vt:lpstr>
      <vt:lpstr>Office</vt:lpstr>
      <vt:lpstr>Shallow Water Equations</vt:lpstr>
      <vt:lpstr>Shallow Water Equations (SWE)</vt:lpstr>
      <vt:lpstr>Navier Stokes</vt:lpstr>
      <vt:lpstr>Navier Stokes</vt:lpstr>
      <vt:lpstr>Navier Stokes</vt:lpstr>
      <vt:lpstr>Shallow Water Equations</vt:lpstr>
      <vt:lpstr>Shallow Water Equations</vt:lpstr>
      <vt:lpstr>Shallow Water Equations</vt:lpstr>
      <vt:lpstr>Shallow Water Equations</vt:lpstr>
      <vt:lpstr>Domain/BC</vt:lpstr>
      <vt:lpstr>Domain/BC</vt:lpstr>
      <vt:lpstr>Solver</vt:lpstr>
      <vt:lpstr>Solver</vt:lpstr>
      <vt:lpstr>HPC</vt:lpstr>
      <vt:lpstr>Thank you fo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Office-Anwender</dc:creator>
  <cp:lastModifiedBy>Johanna Blanck</cp:lastModifiedBy>
  <cp:revision>29</cp:revision>
  <dcterms:created xsi:type="dcterms:W3CDTF">2017-06-06T07:41:45Z</dcterms:created>
  <dcterms:modified xsi:type="dcterms:W3CDTF">2026-04-21T08:47:06Z</dcterms:modified>
</cp:coreProperties>
</file>